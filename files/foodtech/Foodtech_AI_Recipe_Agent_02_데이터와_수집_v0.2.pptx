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2a6dcc65d4ab2" /><Relationship Type="http://schemas.openxmlformats.org/officeDocument/2006/relationships/extended-properties" Target="/docProps/app.xml" Id="Rf67c931888584b50" /><Relationship Type="http://schemas.openxmlformats.org/officeDocument/2006/relationships/officeDocument" Target="/ppt/presentation.xml" Id="R12b16687480b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ec6bee90aa41ff"/>
  </p:sldMasterIdLst>
  <p:notesMasterIdLst>
    <p:notesMasterId xmlns:r="http://schemas.openxmlformats.org/officeDocument/2006/relationships" r:id="Rae23980476414334"/>
  </p:notesMasterIdLst>
  <p:sldIdLst>
    <p:sldId xmlns:r="http://schemas.openxmlformats.org/officeDocument/2006/relationships" id="256" r:id="R47d3a0ee007544f8"/>
    <p:sldId xmlns:r="http://schemas.openxmlformats.org/officeDocument/2006/relationships" id="257" r:id="R463f0adc7dc84c8a"/>
    <p:sldId xmlns:r="http://schemas.openxmlformats.org/officeDocument/2006/relationships" id="258" r:id="R286da0b7f5d44ca2"/>
    <p:sldId xmlns:r="http://schemas.openxmlformats.org/officeDocument/2006/relationships" id="259" r:id="R3cd669e7bdb648c9"/>
    <p:sldId xmlns:r="http://schemas.openxmlformats.org/officeDocument/2006/relationships" id="260" r:id="R37eccf13eaf64be4"/>
    <p:sldId xmlns:r="http://schemas.openxmlformats.org/officeDocument/2006/relationships" id="261" r:id="Rf878a45f3fd441e8"/>
    <p:sldId xmlns:r="http://schemas.openxmlformats.org/officeDocument/2006/relationships" id="262" r:id="Ref6263977acf486d"/>
    <p:sldId xmlns:r="http://schemas.openxmlformats.org/officeDocument/2006/relationships" id="263" r:id="R2541cd8d65084a79"/>
    <p:sldId xmlns:r="http://schemas.openxmlformats.org/officeDocument/2006/relationships" id="264" r:id="R666b9b6dc1994b53"/>
    <p:sldId xmlns:r="http://schemas.openxmlformats.org/officeDocument/2006/relationships" id="265" r:id="R241358aef5f54f53"/>
    <p:sldId xmlns:r="http://schemas.openxmlformats.org/officeDocument/2006/relationships" id="266" r:id="R67f4e1c5f3d9426b"/>
    <p:sldId xmlns:r="http://schemas.openxmlformats.org/officeDocument/2006/relationships" id="267" r:id="Redb99d0b7ed241df"/>
    <p:sldId xmlns:r="http://schemas.openxmlformats.org/officeDocument/2006/relationships" id="268" r:id="Rb4e2a95b13e647ee"/>
    <p:sldId xmlns:r="http://schemas.openxmlformats.org/officeDocument/2006/relationships" id="269" r:id="R2eaba6941498437a"/>
    <p:sldId xmlns:r="http://schemas.openxmlformats.org/officeDocument/2006/relationships" id="270" r:id="R11eb12bba17946fb"/>
    <p:sldId xmlns:r="http://schemas.openxmlformats.org/officeDocument/2006/relationships" id="271" r:id="R12faa37c98d545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f201b6bca42bc" /><Relationship Type="http://schemas.openxmlformats.org/officeDocument/2006/relationships/slideMaster" Target="/ppt/slideMasters/slideMaster1.xml" Id="R39ec6bee90aa41ff" /><Relationship Type="http://schemas.openxmlformats.org/officeDocument/2006/relationships/notesMaster" Target="/ppt/notesMasters/notesMaster1.xml" Id="Rae23980476414334" /><Relationship Type="http://schemas.openxmlformats.org/officeDocument/2006/relationships/presProps" Target="/ppt/presProps.xml" Id="Rdbe18fdf963b482b" /><Relationship Type="http://schemas.openxmlformats.org/officeDocument/2006/relationships/tableStyles" Target="/ppt/tableStyles.xml" Id="R2d1c3706c50e4f24" /><Relationship Type="http://schemas.openxmlformats.org/officeDocument/2006/relationships/slide" Target="/ppt/slides/slide1.xml" Id="R47d3a0ee007544f8" /><Relationship Type="http://schemas.openxmlformats.org/officeDocument/2006/relationships/slide" Target="/ppt/slides/slide2.xml" Id="R463f0adc7dc84c8a" /><Relationship Type="http://schemas.openxmlformats.org/officeDocument/2006/relationships/slide" Target="/ppt/slides/slide3.xml" Id="R286da0b7f5d44ca2" /><Relationship Type="http://schemas.openxmlformats.org/officeDocument/2006/relationships/slide" Target="/ppt/slides/slide4.xml" Id="R3cd669e7bdb648c9" /><Relationship Type="http://schemas.openxmlformats.org/officeDocument/2006/relationships/slide" Target="/ppt/slides/slide5.xml" Id="R37eccf13eaf64be4" /><Relationship Type="http://schemas.openxmlformats.org/officeDocument/2006/relationships/slide" Target="/ppt/slides/slide6.xml" Id="Rf878a45f3fd441e8" /><Relationship Type="http://schemas.openxmlformats.org/officeDocument/2006/relationships/slide" Target="/ppt/slides/slide7.xml" Id="Ref6263977acf486d" /><Relationship Type="http://schemas.openxmlformats.org/officeDocument/2006/relationships/slide" Target="/ppt/slides/slide8.xml" Id="R2541cd8d65084a79" /><Relationship Type="http://schemas.openxmlformats.org/officeDocument/2006/relationships/slide" Target="/ppt/slides/slide9.xml" Id="R666b9b6dc1994b53" /><Relationship Type="http://schemas.openxmlformats.org/officeDocument/2006/relationships/slide" Target="/ppt/slides/slide10.xml" Id="R241358aef5f54f53" /><Relationship Type="http://schemas.openxmlformats.org/officeDocument/2006/relationships/slide" Target="/ppt/slides/slide11.xml" Id="R67f4e1c5f3d9426b" /><Relationship Type="http://schemas.openxmlformats.org/officeDocument/2006/relationships/slide" Target="/ppt/slides/slide12.xml" Id="Redb99d0b7ed241df" /><Relationship Type="http://schemas.openxmlformats.org/officeDocument/2006/relationships/slide" Target="/ppt/slides/slide13.xml" Id="Rb4e2a95b13e647ee" /><Relationship Type="http://schemas.openxmlformats.org/officeDocument/2006/relationships/slide" Target="/ppt/slides/slide14.xml" Id="R2eaba6941498437a" /><Relationship Type="http://schemas.openxmlformats.org/officeDocument/2006/relationships/slide" Target="/ppt/slides/slide15.xml" Id="R11eb12bba17946fb" /><Relationship Type="http://schemas.openxmlformats.org/officeDocument/2006/relationships/slide" Target="/ppt/slides/slide16.xml" Id="R12faa37c98d545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a05b258bf847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e107faaa714b0c" /><Relationship Type="http://schemas.openxmlformats.org/officeDocument/2006/relationships/notesMaster" Target="/ppt/notesMasters/notesMaster1.xml" Id="R86f892d11c3b4e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96a39716f94b43" /><Relationship Type="http://schemas.openxmlformats.org/officeDocument/2006/relationships/notesMaster" Target="/ppt/notesMasters/notesMaster1.xml" Id="R21a3476ea08a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399e640c943a8" /><Relationship Type="http://schemas.openxmlformats.org/officeDocument/2006/relationships/notesMaster" Target="/ppt/notesMasters/notesMaster1.xml" Id="R11a7c60f655c4e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bfc78e874a4945" /><Relationship Type="http://schemas.openxmlformats.org/officeDocument/2006/relationships/notesMaster" Target="/ppt/notesMasters/notesMaster1.xml" Id="Raf43873ad9a1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ab831c0974530" /><Relationship Type="http://schemas.openxmlformats.org/officeDocument/2006/relationships/notesMaster" Target="/ppt/notesMasters/notesMaster1.xml" Id="R5937a8baf2da45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710e2184b2448b" /><Relationship Type="http://schemas.openxmlformats.org/officeDocument/2006/relationships/notesMaster" Target="/ppt/notesMasters/notesMaster1.xml" Id="R80277596489c4c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5ebf61b9c14755" /><Relationship Type="http://schemas.openxmlformats.org/officeDocument/2006/relationships/notesMaster" Target="/ppt/notesMasters/notesMaster1.xml" Id="Ra6dad276bc1144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fc55c021bf4b45" /><Relationship Type="http://schemas.openxmlformats.org/officeDocument/2006/relationships/notesMaster" Target="/ppt/notesMasters/notesMaster1.xml" Id="R0fca331f74f74b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4efa20ff7f4311" /><Relationship Type="http://schemas.openxmlformats.org/officeDocument/2006/relationships/notesMaster" Target="/ppt/notesMasters/notesMaster1.xml" Id="Reea6c6e46db843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ef24368f5f4892" /><Relationship Type="http://schemas.openxmlformats.org/officeDocument/2006/relationships/notesMaster" Target="/ppt/notesMasters/notesMaster1.xml" Id="R4d0aa412e49140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a6422d6483413a" /><Relationship Type="http://schemas.openxmlformats.org/officeDocument/2006/relationships/notesMaster" Target="/ppt/notesMasters/notesMaster1.xml" Id="Re4076ebae01748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9aceefced34dd5" /><Relationship Type="http://schemas.openxmlformats.org/officeDocument/2006/relationships/notesMaster" Target="/ppt/notesMasters/notesMaster1.xml" Id="Reeeb54aae9e644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5b3e0e13614039" /><Relationship Type="http://schemas.openxmlformats.org/officeDocument/2006/relationships/notesMaster" Target="/ppt/notesMasters/notesMaster1.xml" Id="R936cd35f35154f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59fb1fabff844d6" /><Relationship Type="http://schemas.openxmlformats.org/officeDocument/2006/relationships/notesMaster" Target="/ppt/notesMasters/notesMaster1.xml" Id="R31186d1fc5d141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5013cec4d2440d" /><Relationship Type="http://schemas.openxmlformats.org/officeDocument/2006/relationships/notesMaster" Target="/ppt/notesMasters/notesMaster1.xml" Id="R9c2e85b06a9a45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b8b9b880c20462e" /><Relationship Type="http://schemas.openxmlformats.org/officeDocument/2006/relationships/notesMaster" Target="/ppt/notesMasters/notesMaster1.xml" Id="Rd59eefea3cd946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자료: 프로젝트 백과 데이터와 수집 및 하위 문서, DCD v0.6, SRS v0.7, SAD v0.3. 내용은 현재 설계 기준이며 구현 완료를 뜻하지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데이터와 수집(data.md) 도입 및 원천값에서 업무값으로; RD v0.7 1.2~1.4; DCD v0.6.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장비 데이터 수집, Mock 장비 데이터 시뮬레이션, Mock 프로파일과 가상 제조사 fixture; AGENTS.md 6.3~6.4.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AGENTS.md 6.3~6.4; 백과 Mock 프로파일과 가상 제조사 fixture. 실제 제품 규격의 전면 호환을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Mock 프로파일과 가상 제조사 fixture 표; AGENTS.md 6.4. 이 비교는 실제 제조사의 통신 사양이 아니라 시험용 가상 규칙이다.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Mock 프로파일과 가상 제조사 fixture; AGENTS.md 6.4. ID는 mockprofile-XYZ이며 프로파일은 전달 방식·형식, 장비 유형은 대상, fixture는 표현 성향을 담당한다.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Mock 장비 데이터 시뮬레이션과 Mock 오류 시나리오와 검증; AGENTS.md 6.4. 오류 입력 때문에 정상 스키마를 완화하지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장비 데이터 수집 및 데이터와 수집; AGENTS.md 6.5. OPC UA JSON은 프로젝트 Mock 계약이다.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Mock 오류 시나리오와 검증, 데이터 품질 검증과 보정 이력; SRS v0.7. 정상 스키마를 오류 샘플에 맞춰 넓히지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Mock 오류 시나리오와 검증, 데이터 시간축과 파생 버전; SAD v0.3. 5초는 현재 설계의 gap deadline이다.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예시는 가상 fixture 변환 설명용이다. 356°F=180°C, 120000ms=120s는 결정적 단위 변환. 상태 1→RUNNING은 프로젝트 합성 파일 fixture 정책의 예시. 출처: 백과 데이터 표준화와 코드 매핑, Mock 프로파일과 가상 제조사 fixture; AGENTS.md 6.6·6.8.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데이터 표준화와 코드 매핑, 데이터 품질 검증과 보정 이력; AGENTS.md 6.7. 공정 목표의 실패와 데이터 품질 실패는 별도 판정이다.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데이터 품질 검토와 비파괴 재처리, 데이터 품질 검증과 보정 이력; SRS v0.7. 자동 보정은 결정적이고 역산 가능한 변환만 허용한다.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데이터 저장과 추적, 데이터 시간축과 파생 버전; SAD v0.3, ERD v0.2, 테이블 정의서 v0.2. 물리 키·인덱스 세부는 실제 저장소 검증 대상이다.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수집 상태 모니터링과 재처리, 장비 데이터 수집; AGENTS.md 6.5. 수치는 현재 Mock 설계의 시험 기준이다.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백과 데이터와 수집 및 하위 문서 전반; RD v0.7 1.1~1.4. 실제 장비 호환·운영 성과를 주장하지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25050ff91249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e52d1fcd9740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0758f6ca74c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12b75f4de48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9ac170f02946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355ee6f914a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436AF4-344E-427C-A984-B73EEE6D07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9B419A7-1797-49FD-8D91-F090BF4C497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9E6FA3-3E32-4DAA-A365-87FAC0A259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6FC66-6D8F-40FB-8612-ED5C3009F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74D1CF-A12A-4BB3-8AEB-31D30A5BF0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6CF493-0E24-43D0-86CF-90C9F2DEE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628308-73BB-4033-A808-76B832D719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3C22552-5B8F-41FB-86D9-80E6473ABF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23E118-A18B-4280-8708-6FC62F74B8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CF81B0-E36A-4651-A2F7-B37EA49540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21911cd7e44f0" /><Relationship Type="http://schemas.openxmlformats.org/officeDocument/2006/relationships/slideLayout" Target="/ppt/slideLayouts/slideLayout1.xml" Id="R0efbb81fb56548d8" /><Relationship Type="http://schemas.openxmlformats.org/officeDocument/2006/relationships/slideLayout" Target="/ppt/slideLayouts/slideLayout2.xml" Id="R600802de098a4f72" /><Relationship Type="http://schemas.openxmlformats.org/officeDocument/2006/relationships/slideLayout" Target="/ppt/slideLayouts/slideLayout3.xml" Id="Rdc2896ee28e34383" /><Relationship Type="http://schemas.openxmlformats.org/officeDocument/2006/relationships/slideLayout" Target="/ppt/slideLayouts/slideLayout4.xml" Id="R22a6872371154ab0" /><Relationship Type="http://schemas.openxmlformats.org/officeDocument/2006/relationships/slideLayout" Target="/ppt/slideLayouts/slideLayout5.xml" Id="Reb8f73e228864fc4" /><Relationship Type="http://schemas.openxmlformats.org/officeDocument/2006/relationships/slideLayout" Target="/ppt/slideLayouts/slideLayout6.xml" Id="R65d74f06d3294a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bb81fb56548d8"/>
    <p:sldLayoutId xmlns:r="http://schemas.openxmlformats.org/officeDocument/2006/relationships" id="2147483650" r:id="R600802de098a4f72"/>
    <p:sldLayoutId xmlns:r="http://schemas.openxmlformats.org/officeDocument/2006/relationships" id="2147483651" r:id="Rdc2896ee28e34383"/>
    <p:sldLayoutId xmlns:r="http://schemas.openxmlformats.org/officeDocument/2006/relationships" id="2147483652" r:id="R22a6872371154ab0"/>
    <p:sldLayoutId xmlns:r="http://schemas.openxmlformats.org/officeDocument/2006/relationships" id="2147483653" r:id="Reb8f73e228864fc4"/>
    <p:sldLayoutId xmlns:r="http://schemas.openxmlformats.org/officeDocument/2006/relationships" id="2147483654" r:id="R65d74f06d3294a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ed9f47cec54e3b" /><Relationship Type="http://schemas.openxmlformats.org/officeDocument/2006/relationships/notesSlide" Target="/ppt/notesSlides/notesSlide1.xml" Id="R6a496ad3caa6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94c64ecda4d9e" /><Relationship Type="http://schemas.openxmlformats.org/officeDocument/2006/relationships/notesSlide" Target="/ppt/notesSlides/notesSlide2.xml" Id="R643711beb16a4b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4667211e64aff" /><Relationship Type="http://schemas.openxmlformats.org/officeDocument/2006/relationships/notesSlide" Target="/ppt/notesSlides/notesSlide3.xml" Id="Reb3d970dbfbb47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aeec50fdd843a1" /><Relationship Type="http://schemas.openxmlformats.org/officeDocument/2006/relationships/notesSlide" Target="/ppt/notesSlides/notesSlide4.xml" Id="R03f04e361a004d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6f10db76be4c5c" /><Relationship Type="http://schemas.openxmlformats.org/officeDocument/2006/relationships/notesSlide" Target="/ppt/notesSlides/notesSlide5.xml" Id="R881c47bfe8a14a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c915df78c44d34" /><Relationship Type="http://schemas.openxmlformats.org/officeDocument/2006/relationships/notesSlide" Target="/ppt/notesSlides/notesSlide6.xml" Id="Rdafa365d69794a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786034586845d8" /><Relationship Type="http://schemas.openxmlformats.org/officeDocument/2006/relationships/notesSlide" Target="/ppt/notesSlides/notesSlide7.xml" Id="Re62a41958ede40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c56cf009741b5" /><Relationship Type="http://schemas.openxmlformats.org/officeDocument/2006/relationships/notesSlide" Target="/ppt/notesSlides/notesSlide8.xml" Id="R6b79174dade34f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f471b87e74d43" /><Relationship Type="http://schemas.openxmlformats.org/officeDocument/2006/relationships/notesSlide" Target="/ppt/notesSlides/notesSlide9.xml" Id="Rd10f9d668d5c4d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8823eea7174616" /><Relationship Type="http://schemas.openxmlformats.org/officeDocument/2006/relationships/notesSlide" Target="/ppt/notesSlides/notesSlide10.xml" Id="Rb5e0d6b561dc49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f8abdce1d452b" /><Relationship Type="http://schemas.openxmlformats.org/officeDocument/2006/relationships/notesSlide" Target="/ppt/notesSlides/notesSlide11.xml" Id="Rd54810b8b20f4b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d5341a30214ecb" /><Relationship Type="http://schemas.openxmlformats.org/officeDocument/2006/relationships/notesSlide" Target="/ppt/notesSlides/notesSlide12.xml" Id="Rb846973b274842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4cde8b3bf94f93" /><Relationship Type="http://schemas.openxmlformats.org/officeDocument/2006/relationships/notesSlide" Target="/ppt/notesSlides/notesSlide13.xml" Id="Rec3a53c4c06849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4e40a88c44c43" /><Relationship Type="http://schemas.openxmlformats.org/officeDocument/2006/relationships/notesSlide" Target="/ppt/notesSlides/notesSlide14.xml" Id="Ra611943dab944c2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456faf74974498" /><Relationship Type="http://schemas.openxmlformats.org/officeDocument/2006/relationships/notesSlide" Target="/ppt/notesSlides/notesSlide15.xml" Id="R3216801d5ea44c5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270c1f387b465d" /><Relationship Type="http://schemas.openxmlformats.org/officeDocument/2006/relationships/notesSlide" Target="/ppt/notesSlides/notesSlide16.xml" Id="Raa649c307b5644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CA2875-D663-4EBB-88C1-241B31DD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19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D4B05-DAED-4B3C-8700-E1C02DA7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52475"/>
            <a:ext cx="10287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7BD0D7"/>
                </a:solidFill>
                <a:latin typeface="Noto Sans CJK KR"/>
                <a:ea typeface="Noto Sans CJK KR"/>
                <a:cs typeface="Noto Sans CJK KR"/>
              </a:rPr>
              <a:t>FOODTECH AI RECIPE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416AC-D06D-44D1-8CD3-BEF74DDD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76450"/>
            <a:ext cx="10287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725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데이터와 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8AE4E-3000-48E4-AC03-278B9C24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023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DDEAF1"/>
                </a:solidFill>
                <a:latin typeface="Noto Sans CJK KR"/>
                <a:ea typeface="Noto Sans CJK KR"/>
                <a:cs typeface="Noto Sans CJK KR"/>
              </a:rPr>
              <a:t>Mock 장비에서 표준 데이터와 추적 가능한 결과까지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F7CB2-70E6-4E5F-AFFC-C348B0783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067425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B8C9D4"/>
                </a:solidFill>
                <a:latin typeface="Noto Sans CJK KR"/>
                <a:ea typeface="Noto Sans CJK KR"/>
                <a:cs typeface="Noto Sans CJK KR"/>
              </a:rPr>
              <a:t>02 · Foodtech AI Recipe Agent</a:t>
            </a:r>
          </a:p>
        </p:txBody>
      </p:sp>
    </p:spTree>
    <p:extLst>
      <p:ext uri="{BB962C8B-B14F-4D97-AF65-F5344CB8AC3E}">
        <p14:creationId xmlns:p14="http://schemas.microsoft.com/office/powerpoint/2010/main" val="16675464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08F77-50A3-4EDD-A897-D9F6F101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F8DFA-B0A5-4FD3-91B7-2962C975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왜 데이터와 수집이 필요한가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2BB12-1517-49CB-96F9-91586525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39AD0-6168-455E-B431-72A73852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10176-758C-49E9-B72B-9A7D54F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A8334-B7DC-41B7-802D-296E3628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값 하나만으로는 조리 결과를 설명할 수 없다.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BA58-3B03-487B-86F9-7FB7B726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0287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같은 180도라도 어떤 장비의 어느 위치에서, 언제 측정했는지에 따라 의미가 다르다. 원천 단위·코드·수신 순서·변환 규칙을 함께 기록해야 권장값과 실제 결과를 비교할 수 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7087D-DFD3-466E-8041-4333502A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원천을 잃지 않는 수집이 품질 분석의 출발점이다.</a:t>
            </a:r>
          </a:p>
        </p:txBody>
      </p:sp>
    </p:spTree>
    <p:extLst>
      <p:ext uri="{BB962C8B-B14F-4D97-AF65-F5344CB8AC3E}">
        <p14:creationId xmlns:p14="http://schemas.microsoft.com/office/powerpoint/2010/main" val="5086328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B27CF8-61CF-4E5E-89C1-F7E12CDC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13047-3200-4DEF-8F22-FA3FA39F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실제 장비 대신 Mock을 선택한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1E918-FC66-469E-ADF7-6AAFF450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0AC47-1702-4A05-A759-BDAE2A34D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9D7B2-AE96-40D6-8240-ED3BBE0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128002-9670-4265-A905-7013103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022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AAC5E-F1FA-4D61-941F-CBCD3F8C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제약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793C6-3CE4-4CC9-8622-DE55725B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050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개인 프로젝트에는 실제 조리로봇·주방장비와 제조사 비공개 계약이 없다.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76C8A3-1000-46F7-A1E3-13AAE4AE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9082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9DA19-C23C-4B61-9EC8-4AB60E82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위험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AC23B-C523-41E2-910E-FA3531C0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956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공개되지 않은 API를 추정하면 검증하지 않은 제조사 호환성을 주장하게 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DDF17-421A-4366-A3CD-45B2A441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8142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8749F-B9DB-4F43-ABD5-A1B436BA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선택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1B367-0517-4F3E-ACDB-97E11645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862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공개 자료에서는 데이터 개념을 참고하고, 시험 입력은 가상 규칙으로 만든다.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04FA43-307C-4E4B-B6F3-16776B38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72025"/>
            <a:ext cx="10382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A9B159-9FF0-4583-90EC-8678D7CA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효과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EACD25-FC6C-4247-B0F4-BD6FDAEA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768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동일한 입력과 오류를 반복 생성해 어댑터·표준화·복구를 검증할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5481920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EE8394-A9FF-4C02-8482-36A4C4EF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ADC7A-83FA-48DD-B3A6-0685106B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참조 제품과 가상 제조사의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4C8304-B28D-4F51-A5D3-22B3C85B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4D4CD-686D-422B-9405-75A4AFD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제품은 개념을 참고하고, fixture는 시험 입력의 표현을 맡는다.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50A30-AE94-4F39-9E19-646D6512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B9A74-8171-420B-98CA-57FFE631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AAB61-E209-4D10-BD0E-03D89DF1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975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65B52-CDD5-4098-96BA-EA7AEF74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145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볶음·교반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47EC8-78A8-415B-BFD8-D1DD5F7E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145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TechMagic I-Robo 2를 주 참조, BOTINKIT OMNI를 교차 검토에 사용한다.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D264DF-9D26-4A59-ADCD-F9EBB4EA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A091F4-9DEB-4EF3-A2F0-6E2BBC6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콤비오븐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BC373-FC87-4D5B-8DF7-0F109B32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860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RATIONAL iCombi Pro를 주 참조, UNOX CHEFTOP-X를 보조로 검토한다.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230B2-DB81-47E3-838D-FED28A2D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5285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6EE87-67CB-40D3-B6D2-4589329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공통 모델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7A679-C4B1-4903-801B-26135A6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576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OPC UA 30200을 중립 정보모델의 기본 기준으로 삼는다.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18B23-FC84-4461-A248-DBD664E1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5DACE-59A0-4D8F-B815-6023C697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가상 입력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17314-A312-408A-96D6-2C9B7738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291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vendor-a/b/c는 어느 실제 제조사와도 일대일 대응하지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45928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141D08-92C4-47BD-8982-F12A2180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F958B-6B78-4E1F-8E5C-3B450BB8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가상 제조사 fixture가 재현하는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09021-2E1D-42BF-B68A-6854FCFF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3C3D7-6157-4838-BDD3-872655BF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F5821-C5DD-4147-B41B-909CAA89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3D491-4EE1-4383-9765-4679DB6F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81225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9AD74-9CF6-4951-A071-1675A70C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F9619-30C6-4ED5-B6D0-B96EA508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49CB4-ACD0-49FC-8817-2541D698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0382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8BA3D-F04B-4C90-B53F-535E6EFD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7240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CC255-9274-4D65-AA76-1443DF07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240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vendor-a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9CC3E-F185-4DF6-A2C0-92B59CC8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7240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vendor-b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8D01D-4F14-450F-A4AC-19F22BF2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2402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vendor-c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46587-A3FF-4088-A519-CDE0A3A4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3336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필드와 구조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CDAEB-ADBF-4106-B620-C71A7349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336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camelCase·중첩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AE2BC-CFBA-4C6B-88DD-B58F182A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252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snake_case·평면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FED56-5B5F-4FE3-8C67-3B062926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33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PascalCase·혼합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2D012-4754-496E-BEEA-FA75A96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1527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온도와 시간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14C543-1BB9-477E-A6A0-2FE24565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527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°C·초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35A436-4171-4E9B-A307-62881D70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152775"/>
            <a:ext cx="252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°F·밀리초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3EF3E-B3B8-4780-B9C3-7135C053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5277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°C·분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84E77-24A8-49E3-965E-0F1904AB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7192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속도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CDF35F-85FB-4AF1-ABD6-1AF5E221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7192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rpm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828A6-75C9-4B6D-9B44-FD70897E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971925"/>
            <a:ext cx="252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출력 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7023DE-FC9E-4E48-9153-9D528129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719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level 0~10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72674-31DB-42E3-A106-8DB0C8A3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791075"/>
            <a:ext cx="209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상태와 Null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4D05B-EF46-436C-90B9-A8251C00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791075"/>
            <a:ext cx="257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문자열·null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77E5AB-6AF3-4492-A033-86809AA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252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정수 코드·생략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DA171A-1CF0-45F9-9815-CAB33B4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9107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4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약어·빈 문자열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83E88E-7A78-42D3-BDE9-50005FDF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8102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표현이 달라도 같은 조리 사건으로 해석되는지 검증한다.</a:t>
            </a:r>
          </a:p>
        </p:txBody>
      </p:sp>
    </p:spTree>
    <p:extLst>
      <p:ext uri="{BB962C8B-B14F-4D97-AF65-F5344CB8AC3E}">
        <p14:creationId xmlns:p14="http://schemas.microsoft.com/office/powerpoint/2010/main" val="605331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E80EC1-D4C4-42CE-BF0C-4794D103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1782A-99D8-4FB5-AF74-57373378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Mock 프로파일의 조합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5197C-B32E-40C6-A3CA-A5F961BD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11E06-73D7-4BDC-81CA-7F968DC5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전달 방식, 장비 유형, 데이터 형식을 독립적으로 바꾼다.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3D891-B773-493E-B5D1-4CB086AE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9C463-56ED-4A22-A752-B1A6DE9A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5DF23-52C1-4FEB-A869-8BB38B5B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85950"/>
            <a:ext cx="10382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D928D-0D6A-47AB-802D-0C8B693D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907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F9267-694D-4D8B-8078-A30F70BB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907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기본·볶음·콤비오븐에 JSON 또는 XML, 6개 계열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AF00D-CB55-4DC4-9F72-4D5B43D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38450"/>
            <a:ext cx="10382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C1DD1-CD87-4B4A-9DFD-AD12B11B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OPC UA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F48328-37EE-4CF5-BF66-B9DED349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9432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세 장비 유형에 UA JSON 또는 UA Binary, 6개 계열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928FAA-1D2C-4138-BFFB-AA7BE44E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90950"/>
            <a:ext cx="10382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158CFD-A0D6-43DF-9242-57D95160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MQTT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38C413-C28A-414C-BB46-F8065243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957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세 장비 유형에 JSON·XML·CSV, 9개 계열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7399D6-9E9A-4F3E-A780-950E296D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43450"/>
            <a:ext cx="10382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55106-974A-408B-BBA8-84E44245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482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합계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343D9-1F57-40F7-A745-EF9AE2FF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482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21개 계열에 세 fixture를 적용해 최소 63개 인스턴스</a:t>
            </a:r>
          </a:p>
        </p:txBody>
      </p:sp>
    </p:spTree>
    <p:extLst>
      <p:ext uri="{BB962C8B-B14F-4D97-AF65-F5344CB8AC3E}">
        <p14:creationId xmlns:p14="http://schemas.microsoft.com/office/powerpoint/2010/main" val="522898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4CBE2-93DA-4083-AF84-FDC30308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69D58-BC16-4A15-9263-6671CA41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Mock을 반복 가능한 시험으로 만든 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4E51E-323B-41EF-90CD-A6A51E12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35ED-1522-464E-A61D-30D8E5E3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997B3-A4A5-444D-8B4A-BC6AEBA8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07640-3260-4072-BF98-F6F61E1F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103822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EC957-56F9-4BCA-91ED-BF9D89C5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72FE5-7D53-46E9-8E6A-62CD06E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90700"/>
            <a:ext cx="823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프로파일 계열과 vendor fixture, 불변 인스턴스 ID를 정한다.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11F0E0-3E90-42E9-9E06-DF42D086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33650"/>
            <a:ext cx="103822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4D276-A6A6-4CAD-A760-16990844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C78A-13FA-433C-B9B1-877DE1BB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38425"/>
            <a:ext cx="823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같은 시드에서 같은 정상 이벤트와 발생시각·순번을 만든다.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BA675-6854-4002-9947-058FBB8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81375"/>
            <a:ext cx="103822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5536E-1008-418F-9032-40A086FE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47A0B-AD32-4336-BA98-2BBD357E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486150"/>
            <a:ext cx="823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별도 시나리오에서 오류 종류·시점·지속시간을 지정한다.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221A6-25E5-4FC5-AB6E-197C4C51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29100"/>
            <a:ext cx="103822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A4F3A-05BF-4053-A98A-B1A0BA0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83830-0FD8-442D-A99D-3ECBD65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33875"/>
            <a:ext cx="823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원천 스키마와 변환 후 표준 스키마를 각각 검사한다.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3955C-C743-4D60-9EC2-8E45A056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76825"/>
            <a:ext cx="10382250" cy="695325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E85C9-54EA-4B01-BA7D-0A36C409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5FB92-3271-44E4-A801-EA1F1D55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8239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수집·품질·DLQ·파생 결과를 같은 시드로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9532841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46311-0AB7-489E-9708-4344706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BA285-8D2B-45BC-9C84-E3F0305A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읽기 전용 수집 경로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CD0B4-DF0F-4889-841B-28DA64A6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833CF-CCF6-4B70-8025-D32A415C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F89B9-7513-4705-A988-A7178D60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26680-4959-47DA-9962-55E6F7FC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90700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806F8-B672-4A9A-9255-C5848FF5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954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REST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438D3-9AF6-473A-ABFF-ED92BC1B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954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HTTPS GET Polling으로 장비 상태를 조회한다.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3A0E6-2EDD-4B97-8D21-9FDFBA2D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1775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B4DF1-8CC9-4CE0-A9CD-EF781AA2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MQTT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EC68E-1838-4716-81D0-53DE4286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765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TLS 연결에서 구독하고 QoS 1 중복 가능성을 처리한다.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5069C2-A521-4674-8B7E-EF5970EE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52850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8A5CF-20EE-4FE3-97F2-8826DD8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OPC UA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29846-08F0-4E63-AF10-304C06F1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576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Binary는 Browse·Read·Subscription, JSON은 Mock용 조회 계약을 사용한다.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FA165-F0C8-43A0-9DF7-7A9E886F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14A28-6002-4B1E-849F-8A0078F4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대체 경로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FE2FE-88DB-41AF-85F8-1AA4A9DE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387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실시간 연계가 없으면 JSON·CSV·JSONL 파일과 운영자 입력을 받는다.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9B8B5-A432-4700-A940-DA44B29E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769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수집기는 장비에 제어명령이나 설정값을 보내지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55283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BBCAF-DB9B-487D-8219-81B9CFAD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E4C52-A3D1-48FA-9BB9-1D2E6000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정상 데이터만으로는 검증할 수 없는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5044C-1EDA-47B7-B9A2-F5367BE6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44DD8-A072-4352-B728-BBFD6ED3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34A9D-043A-4C61-91A1-87EC5AFB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0E287-A61F-443D-A927-624EB037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90700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C849F-51B6-48DB-BE57-ECB2FE80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954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DA1D1-73C8-449A-9F3B-1382BE5A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954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단절·재연결·timeout 뒤 누락과 중복을 구분한다.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B89B05-0A87-414F-AB35-F9DCDC34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1775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06645-FCC8-47FB-8D69-7DD97F36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전달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EB656E-D068-4498-AA81-9ED7447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765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순서 뒤바뀜·결손·늦은 도착·같은 업무키의 충돌을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1B165-B818-4E46-931D-7B393C0E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52850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B1AD2-F7E7-4613-99D3-A6ADA625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576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25E11-DBE9-4DE1-AA37-18F3D50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576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인증 실패·인코딩 오류·깨진 구조·미지 코드를 격리한다.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17B05-CF6B-40E8-9349-B745810F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33925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3098E-92A9-49F7-B13E-3053137E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센서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24182-160E-414B-964A-BCCC8326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387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급변과 물리 한계 초과를 후보와 확정 이상으로 나눈다.</a:t>
            </a:r>
          </a:p>
        </p:txBody>
      </p:sp>
    </p:spTree>
    <p:extLst>
      <p:ext uri="{BB962C8B-B14F-4D97-AF65-F5344CB8AC3E}">
        <p14:creationId xmlns:p14="http://schemas.microsoft.com/office/powerpoint/2010/main" val="11903512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B0BC8-F54F-4005-BC77-EDAD622E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692CE0-9FA8-4942-ADAD-02BEA726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결손과 늦은 도착을 따로 다루는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3714B-535E-4CAF-8873-02883E27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26E31-5315-4B7F-AADD-A99ACBC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5CB87-3713-4252-9AC4-4F715B52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B99A3-08E5-47EF-AD24-169C9BA2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81175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697A32-A935-4253-9B7E-234EDA27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순서 역전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D81D2-8BF9-4DCF-970F-8645BC4B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네트워크에서 늦은 값이 올 수 있으므로 5초간 순번 복원을 기다린다.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DB687-641B-4D63-ADC0-BF7971FD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0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07B32-D5A5-4E60-AC3F-3C878B50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결손 확정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54E73-8AB1-4E36-B77A-E90D489A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670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그 안에 오지 않으면 DATA_GAP을 기록하고 후속 데이터를 처리한다.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BB8CD-194C-4FF6-864D-43B3135C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49B56-C0A3-4AF6-A415-4F95F456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늦은 도착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A2A8F-F960-4C35-8D2B-3EA7715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481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나중에 온 값은 LATE_AFTER_GAP과 새 파생 버전으로 연결한다.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8664B-8998-42CA-A57C-B774C6D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24400"/>
            <a:ext cx="103822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C633B2-FF3D-43A9-8544-CB4BAAC1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29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원본 보존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2CBB2-AE83-486D-A7FD-23367F32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291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최초 판정을 조용히 바꾸지 않아 당시 결과와 최신 결과를 모두 설명한다.</a:t>
            </a:r>
          </a:p>
        </p:txBody>
      </p:sp>
    </p:spTree>
    <p:extLst>
      <p:ext uri="{BB962C8B-B14F-4D97-AF65-F5344CB8AC3E}">
        <p14:creationId xmlns:p14="http://schemas.microsoft.com/office/powerpoint/2010/main" val="21134287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44577-C153-4C24-8761-C8A70622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6EAAC-1750-4A1B-8935-331D1A0E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Mock 입력이 표준 데이터가 되는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76DC1-8644-4188-A8AF-5AF90F1E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5C75DE-D58F-428C-82BB-177A59F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B973E-87A0-4233-907F-9A02F6B6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20B3E-52F9-4613-A4FF-BCA22E2F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47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vendor-b 원천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33371-8882-4804-AF42-FA1FD69A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공통 표준값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89486-46CB-4599-A0E5-1C4BFB29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온도 356°F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4524F-45CC-46B7-ADA9-56828965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온도 180°C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92054-A350-42C9-BF9F-2A0CBF7C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766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상태 코드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B4572-4D1D-4161-AE94-B1CD588B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RUNNING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45A3E-F9E9-46A2-AC12-837D0921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386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시간 간격 120000ms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3B744A-AF1C-4712-8A0B-023AB26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120s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1B5F7-5E26-45CB-BC3E-92B7A2CA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0060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출력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B6EAC-760A-42B0-9487-529F1EB3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OUTPUT_PERCENT 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A44FA-99C2-4A70-A2F4-00C180CF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769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70% 출력은 rpm으로 환산하지 않는다. 원천값과 매핑 버전은 함께 남긴다.</a:t>
            </a:r>
          </a:p>
        </p:txBody>
      </p:sp>
    </p:spTree>
    <p:extLst>
      <p:ext uri="{BB962C8B-B14F-4D97-AF65-F5344CB8AC3E}">
        <p14:creationId xmlns:p14="http://schemas.microsoft.com/office/powerpoint/2010/main" val="3156567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AF964-2A34-4FF1-8FDC-BF501D6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DB3CB-576E-435E-B747-795F64D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표준화 뒤에도 품질을 다시 보는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94D56-35C1-4724-A9B3-B62CFC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2E820-4CEB-4A4E-AD5A-C36E98DC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A77EB-4086-4D97-97F2-E768BBF0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AC9F8-F1D3-4E44-8CDD-A9474336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022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EEC6B-C778-4A6E-A45E-4E0FF8B6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원천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E6B284-F7FF-4809-860E-3200A1F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050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원래 형식과 필수 필드를 확인해야 잘못된 입력을 변환하지 않는다.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9132F-A659-4758-BC04-CD0EDF6F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177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13B8E-E7C9-4DC6-B4BF-66B35A08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표준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5BF77-A0E9-43BD-B26F-A9F67522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765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매핑 결과가 공통 단위·코드·값 유형을 지키는지 확인한다.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127BA-D221-4B0D-A5EE-6DB65A31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6B00F-9EA4-47D1-BC1D-8831365F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경고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AC043-F0E8-46A2-B0D3-E1C35D52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481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이례적이지만 가능한 값은 남기고 검토 대상으로 표시한다.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31CEEC-38EA-4728-9205-714CC60B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BB7D1-6AB3-4FB3-851A-7DDF46D4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격리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540A9-FA3D-4B09-B674-617C5271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196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스키마 위반·확정 이상은 정상 분석과 학습에서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126271136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1652F-8245-41DC-9469-1D2C3424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D3FE4-41A7-45C4-8EAF-24B7E11A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검토와 재처리는 덮어쓰지 않는다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20F43-6E0C-4B64-84A4-25E94F29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CDF7D-8136-41CA-9B9F-CF8D7F41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CB251-7542-4C52-A0C0-ED5BB66C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D9AB4-9E6F-484B-B522-96A2D46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0022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AE259-0424-4D3F-96F6-C0F76548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050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자동 판정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1A12E8-09CC-4899-A5D6-85275622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050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종합 상태와 여러 Finding을 분리해 기록한다.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7D735-9103-4C6E-A070-6D90E21D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177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62534-D867-41DC-822A-D1612D58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사람의 검토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AD7F7-BB9D-4938-95AD-CC77F510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765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경고를 확인·기각하거나 격리 건의 재처리를 요청한다.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37569-A50D-431B-BF44-FE43B9D3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4332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618BAA-CB9F-4F5C-A304-A8BB359D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새 시도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E05CC-FBDF-411F-85FA-CD8ADB57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481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원본과 최초 판정을 보존한 채 새 Attempt와 파생 버전을 만든다.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4A5B4A-D56A-4D0D-A89B-3B2EB37D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D666D-0617-47D5-A4FB-E7E3B509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96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학습 경계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03F17-7FA3-451D-BFF6-5EB092CF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1965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경고 이력·격리·핵심값 누락을 학습 후보에서 제외한다.</a:t>
            </a:r>
          </a:p>
        </p:txBody>
      </p:sp>
    </p:spTree>
    <p:extLst>
      <p:ext uri="{BB962C8B-B14F-4D97-AF65-F5344CB8AC3E}">
        <p14:creationId xmlns:p14="http://schemas.microsoft.com/office/powerpoint/2010/main" val="652993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FBF28-A771-4BC1-B17E-DED1FE4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69F59-E73F-421A-AB23-576C9835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저장과 추적의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21DE3-0641-46DA-A81D-E3A63DED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93061-A0BE-4188-8A64-7466C53B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525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5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최종값뿐 아니라 생성 경로를 읽을 수 있어야 한다.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3029B-065F-4975-B345-0EE389EE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F0639-247A-40B9-BA60-077ECB57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556AC-8461-43AE-BCC4-0FDB81CA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9070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F54D2-60B0-4EAA-97EA-B59317BA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954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수신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3FF3A1-8C3C-437A-A685-DE36C712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954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ingestion_envelope에 소스·장비·시각·원천 참조를 남긴다.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13560-DD08-4E59-BEFA-D406018E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6225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02127-35ED-48DE-9C52-2709C2C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해석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E6239-2855-4DA7-AC68-454C3241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670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표준 측정값에 원천 필드와 매핑·품질 규칙 버전을 연결한다.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78EF6-8387-4F47-8BC2-0D833AE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3380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F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26FD5-6599-4B34-AE20-300EC018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파생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02CD8-9C4B-4C58-B359-860D89D8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3857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정정·늦은 수신은 부모를 가진 새 버전으로 기록한다.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751C3F-D67E-4389-AA49-AAE21C40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05350"/>
            <a:ext cx="10382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17EEE4-D45B-40BC-B250-7486374A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101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조회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77A5E-5253-483D-916D-B1D87151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810125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650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최초 처리, 최신 정정, 과거 특정 시점의 결과를 구분한다.</a:t>
            </a:r>
          </a:p>
        </p:txBody>
      </p:sp>
    </p:spTree>
    <p:extLst>
      <p:ext uri="{BB962C8B-B14F-4D97-AF65-F5344CB8AC3E}">
        <p14:creationId xmlns:p14="http://schemas.microsoft.com/office/powerpoint/2010/main" val="10971602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CB048B-43CC-4674-BDF4-24E4E3C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50478-82F5-4720-A54A-D7384FC7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수집 상태를 함께 보여주는 이유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66910-AD2E-4172-B3B0-5463C2C6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42335-7739-4DA5-BAC8-FDB2F918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50138-EE3F-4C37-88FC-5581576E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EECA3C-A435-48F2-9EE7-AC341E1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최근 값이 언제 들어왔는지 알아야 화면의 숫자를 믿을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2E6CD-F040-4290-AC1C-AF97F8CA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10287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장비별 연결상태, 마지막 발생·수신시각, 지연과 오류를 함께 보여준다. 재연결 후에는 원천 재전송과 플랫폼 재시도를 구분하고, 중복 적재 없이 결과를 복원한다.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A80A0-989B-4483-9232-488E33B8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43550"/>
            <a:ext cx="10191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72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Mock 기준: 63개 인스턴스 · 5초 간격 · 정상 부하 13건/초</a:t>
            </a:r>
          </a:p>
        </p:txBody>
      </p:sp>
    </p:spTree>
    <p:extLst>
      <p:ext uri="{BB962C8B-B14F-4D97-AF65-F5344CB8AC3E}">
        <p14:creationId xmlns:p14="http://schemas.microsoft.com/office/powerpoint/2010/main" val="126253237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FD793B-4F9F-419D-A3C9-FE0E766D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762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7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EEDC2-73CD-4696-A4B1-74B2243A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"/>
            <a:ext cx="1004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850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데이터와 수집의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64025-8D61-4408-A301-979AAC9D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334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1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0D5C4-62E1-4E24-A45A-2F30853F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6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25C85-81ED-4D55-ADB9-96A384C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975" b="0">
                <a:solidFill>
                  <a:srgbClr val="5B6D7F"/>
                </a:solidFill>
                <a:latin typeface="Noto Sans CJK KR"/>
                <a:ea typeface="Noto Sans CJK KR"/>
                <a:cs typeface="Noto Sans CJK KR"/>
              </a:rPr>
              <a:t>Foodtech AI Recipe Agent · 데이터와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27D5F-2700-4C09-B362-4EA8D0A3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145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0B2138"/>
                </a:solidFill>
                <a:latin typeface="Noto Sans CJK KR"/>
                <a:ea typeface="Noto Sans CJK KR"/>
                <a:cs typeface="Noto Sans CJK KR"/>
              </a:rPr>
              <a:t>가상 제조사와 Mock은 다양한 원천을 반복해서 만든다.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7FDE2-41AD-42C6-986B-344653AF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수집은 순서와 출처를 기록하고, 표준화는 의미를 맞춘다.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1C379-ED9C-465A-B5EA-35B6164A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263B50"/>
                </a:solidFill>
                <a:latin typeface="Noto Sans CJK KR"/>
                <a:ea typeface="Noto Sans CJK KR"/>
                <a:cs typeface="Noto Sans CJK KR"/>
              </a:rPr>
              <a:t>품질 판정과 저장은 결과의 신뢰성과 재현 가능성을 지킨다.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AE032-42CE-4FF8-B6C3-1E2C7DBB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29250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defPPr>
            <a:lvl1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1pPr>
            <a:lvl2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2pPr>
            <a:lvl3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3pPr>
            <a:lvl4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4pPr>
            <a:lvl5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5pPr>
            <a:lvl6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6pPr>
            <a:lvl7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7pPr>
            <a:lvl8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8pPr>
            <a:lvl9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1">
                <a:solidFill>
                  <a:srgbClr val="1497A7"/>
                </a:solidFill>
                <a:latin typeface="Noto Sans CJK KR"/>
                <a:ea typeface="Noto Sans CJK KR"/>
                <a:cs typeface="Noto Sans CJK KR"/>
              </a:rPr>
              <a:t>이 기반이 있어야 조리 품질과 레시피 개선을 설명할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405678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2026-10-23T23:27:15.5520000Z</dcterms:created>
  <dcterms:modified xsi:type="dcterms:W3CDTF">2026-10-23T23:27:15.5520000Z</dcterms:modified>
</coreProperties>
</file>