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4f6530829e4503" /><Relationship Type="http://schemas.openxmlformats.org/officeDocument/2006/relationships/extended-properties" Target="/docProps/app.xml" Id="Rbb572034a0b44d92" /><Relationship Type="http://schemas.openxmlformats.org/officeDocument/2006/relationships/officeDocument" Target="/ppt/presentation.xml" Id="R437eac46f3654e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41c7de99434af4"/>
  </p:sldMasterIdLst>
  <p:notesMasterIdLst>
    <p:notesMasterId xmlns:r="http://schemas.openxmlformats.org/officeDocument/2006/relationships" r:id="Rdbd4915c549c428d"/>
  </p:notesMasterIdLst>
  <p:sldIdLst>
    <p:sldId xmlns:r="http://schemas.openxmlformats.org/officeDocument/2006/relationships" id="256" r:id="Rf098e6ebfa484442"/>
    <p:sldId xmlns:r="http://schemas.openxmlformats.org/officeDocument/2006/relationships" id="257" r:id="R1f5506dbb09b4bf4"/>
    <p:sldId xmlns:r="http://schemas.openxmlformats.org/officeDocument/2006/relationships" id="258" r:id="Rb176c4b403c64328"/>
    <p:sldId xmlns:r="http://schemas.openxmlformats.org/officeDocument/2006/relationships" id="259" r:id="R7029965942654489"/>
    <p:sldId xmlns:r="http://schemas.openxmlformats.org/officeDocument/2006/relationships" id="260" r:id="Rbedfbac6a8e24b70"/>
    <p:sldId xmlns:r="http://schemas.openxmlformats.org/officeDocument/2006/relationships" id="261" r:id="R6afc12d948d3464d"/>
    <p:sldId xmlns:r="http://schemas.openxmlformats.org/officeDocument/2006/relationships" id="262" r:id="R86b4eb8de5e14bb3"/>
    <p:sldId xmlns:r="http://schemas.openxmlformats.org/officeDocument/2006/relationships" id="263" r:id="R53126b158443441a"/>
    <p:sldId xmlns:r="http://schemas.openxmlformats.org/officeDocument/2006/relationships" id="264" r:id="R0857a21cccbe46d3"/>
    <p:sldId xmlns:r="http://schemas.openxmlformats.org/officeDocument/2006/relationships" id="265" r:id="R25ac3950012f4474"/>
    <p:sldId xmlns:r="http://schemas.openxmlformats.org/officeDocument/2006/relationships" id="266" r:id="R901a3db4f3994c77"/>
    <p:sldId xmlns:r="http://schemas.openxmlformats.org/officeDocument/2006/relationships" id="267" r:id="Rad6d5547a5de493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d827b4a2044dd1" /><Relationship Type="http://schemas.openxmlformats.org/officeDocument/2006/relationships/slideMaster" Target="/ppt/slideMasters/slideMaster1.xml" Id="R4341c7de99434af4" /><Relationship Type="http://schemas.openxmlformats.org/officeDocument/2006/relationships/notesMaster" Target="/ppt/notesMasters/notesMaster1.xml" Id="Rdbd4915c549c428d" /><Relationship Type="http://schemas.openxmlformats.org/officeDocument/2006/relationships/presProps" Target="/ppt/presProps.xml" Id="Ra4711022254f4801" /><Relationship Type="http://schemas.openxmlformats.org/officeDocument/2006/relationships/tableStyles" Target="/ppt/tableStyles.xml" Id="Rbc134c9b152046b8" /><Relationship Type="http://schemas.openxmlformats.org/officeDocument/2006/relationships/slide" Target="/ppt/slides/slide1.xml" Id="Rf098e6ebfa484442" /><Relationship Type="http://schemas.openxmlformats.org/officeDocument/2006/relationships/slide" Target="/ppt/slides/slide2.xml" Id="R1f5506dbb09b4bf4" /><Relationship Type="http://schemas.openxmlformats.org/officeDocument/2006/relationships/slide" Target="/ppt/slides/slide3.xml" Id="Rb176c4b403c64328" /><Relationship Type="http://schemas.openxmlformats.org/officeDocument/2006/relationships/slide" Target="/ppt/slides/slide4.xml" Id="R7029965942654489" /><Relationship Type="http://schemas.openxmlformats.org/officeDocument/2006/relationships/slide" Target="/ppt/slides/slide5.xml" Id="Rbedfbac6a8e24b70" /><Relationship Type="http://schemas.openxmlformats.org/officeDocument/2006/relationships/slide" Target="/ppt/slides/slide6.xml" Id="R6afc12d948d3464d" /><Relationship Type="http://schemas.openxmlformats.org/officeDocument/2006/relationships/slide" Target="/ppt/slides/slide7.xml" Id="R86b4eb8de5e14bb3" /><Relationship Type="http://schemas.openxmlformats.org/officeDocument/2006/relationships/slide" Target="/ppt/slides/slide8.xml" Id="R53126b158443441a" /><Relationship Type="http://schemas.openxmlformats.org/officeDocument/2006/relationships/slide" Target="/ppt/slides/slide9.xml" Id="R0857a21cccbe46d3" /><Relationship Type="http://schemas.openxmlformats.org/officeDocument/2006/relationships/slide" Target="/ppt/slides/slide10.xml" Id="R25ac3950012f4474" /><Relationship Type="http://schemas.openxmlformats.org/officeDocument/2006/relationships/slide" Target="/ppt/slides/slide11.xml" Id="R901a3db4f3994c77" /><Relationship Type="http://schemas.openxmlformats.org/officeDocument/2006/relationships/slide" Target="/ppt/slides/slide12.xml" Id="Rad6d5547a5de49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c3dcb18a0c4b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33f9d5a7d844e7" /><Relationship Type="http://schemas.openxmlformats.org/officeDocument/2006/relationships/notesMaster" Target="/ppt/notesMasters/notesMaster1.xml" Id="R29eef8e02f7645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eeafc0f3c840a5" /><Relationship Type="http://schemas.openxmlformats.org/officeDocument/2006/relationships/notesMaster" Target="/ppt/notesMasters/notesMaster1.xml" Id="R61d2cd20c82443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3e4f7cd75d49ea" /><Relationship Type="http://schemas.openxmlformats.org/officeDocument/2006/relationships/notesMaster" Target="/ppt/notesMasters/notesMaster1.xml" Id="Rdf25b249977446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b6f6fbe4974549" /><Relationship Type="http://schemas.openxmlformats.org/officeDocument/2006/relationships/notesMaster" Target="/ppt/notesMasters/notesMaster1.xml" Id="R83994071f5334a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fa9da6a7734b07" /><Relationship Type="http://schemas.openxmlformats.org/officeDocument/2006/relationships/notesMaster" Target="/ppt/notesMasters/notesMaster1.xml" Id="Rae2dc89c71ce44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9870d4f09b4efe" /><Relationship Type="http://schemas.openxmlformats.org/officeDocument/2006/relationships/notesMaster" Target="/ppt/notesMasters/notesMaster1.xml" Id="R829dff6f333248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7f84e082334c26" /><Relationship Type="http://schemas.openxmlformats.org/officeDocument/2006/relationships/notesMaster" Target="/ppt/notesMasters/notesMaster1.xml" Id="Rd6a1364d925a49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7cbbddd0ff54432" /><Relationship Type="http://schemas.openxmlformats.org/officeDocument/2006/relationships/notesMaster" Target="/ppt/notesMasters/notesMaster1.xml" Id="Rf198b8ababc94b9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2ccc7b024654671" /><Relationship Type="http://schemas.openxmlformats.org/officeDocument/2006/relationships/notesMaster" Target="/ppt/notesMasters/notesMaster1.xml" Id="R4dfbafd54c49493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e8254b33365468e" /><Relationship Type="http://schemas.openxmlformats.org/officeDocument/2006/relationships/notesMaster" Target="/ppt/notesMasters/notesMaster1.xml" Id="R80a59c1b08da47d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fd560141f094339" /><Relationship Type="http://schemas.openxmlformats.org/officeDocument/2006/relationships/notesMaster" Target="/ppt/notesMasters/notesMaster1.xml" Id="R377bd45f2e1645c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141e85032d54ee8" /><Relationship Type="http://schemas.openxmlformats.org/officeDocument/2006/relationships/notesMaster" Target="/ppt/notesMasters/notesMaster1.xml" Id="R7d5c3d00028541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843df927ac4f5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2e18425c3446e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aa25393341482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89c3626fe84f2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bb1462665a406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967c16001944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B590A1-F31D-4ED5-851A-85FF672B59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0BD51E0-44D1-43E6-BE62-04CDB5878D7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6E2FB03-A92A-4DD6-9318-B75A67146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B0B6617-9968-40C5-9B89-62B7BFC204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0D05DD7-A914-4CAB-A8B7-70D1C3EFA7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B3F8AEC-4ADD-480C-BDE0-E270D008B4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7AB1770-0B55-440D-B00D-1A3070B9DE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565FAA7-8EA0-461D-86E3-FBE72EE4BCC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7F8CFB9-1AAF-428E-978B-90FA2CEBA2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4014C8B-58B0-4E04-8A32-FA93879B394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fd0416c8034cee" /><Relationship Type="http://schemas.openxmlformats.org/officeDocument/2006/relationships/slideLayout" Target="/ppt/slideLayouts/slideLayout1.xml" Id="R54529f0d8f4e4501" /><Relationship Type="http://schemas.openxmlformats.org/officeDocument/2006/relationships/slideLayout" Target="/ppt/slideLayouts/slideLayout2.xml" Id="Rda0a528cf5c44d43" /><Relationship Type="http://schemas.openxmlformats.org/officeDocument/2006/relationships/slideLayout" Target="/ppt/slideLayouts/slideLayout3.xml" Id="R0029ffbe63c945ab" /><Relationship Type="http://schemas.openxmlformats.org/officeDocument/2006/relationships/slideLayout" Target="/ppt/slideLayouts/slideLayout4.xml" Id="Rb902d3d3a798467a" /><Relationship Type="http://schemas.openxmlformats.org/officeDocument/2006/relationships/slideLayout" Target="/ppt/slideLayouts/slideLayout5.xml" Id="Rfb7910a09dd94bc1" /><Relationship Type="http://schemas.openxmlformats.org/officeDocument/2006/relationships/slideLayout" Target="/ppt/slideLayouts/slideLayout6.xml" Id="R6f97a89ee8644d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529f0d8f4e4501"/>
    <p:sldLayoutId xmlns:r="http://schemas.openxmlformats.org/officeDocument/2006/relationships" id="2147483650" r:id="Rda0a528cf5c44d43"/>
    <p:sldLayoutId xmlns:r="http://schemas.openxmlformats.org/officeDocument/2006/relationships" id="2147483651" r:id="R0029ffbe63c945ab"/>
    <p:sldLayoutId xmlns:r="http://schemas.openxmlformats.org/officeDocument/2006/relationships" id="2147483652" r:id="Rb902d3d3a798467a"/>
    <p:sldLayoutId xmlns:r="http://schemas.openxmlformats.org/officeDocument/2006/relationships" id="2147483653" r:id="Rfb7910a09dd94bc1"/>
    <p:sldLayoutId xmlns:r="http://schemas.openxmlformats.org/officeDocument/2006/relationships" id="2147483654" r:id="R6f97a89ee8644d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8591ae819549f8" /><Relationship Type="http://schemas.openxmlformats.org/officeDocument/2006/relationships/notesSlide" Target="/ppt/notesSlides/notesSlide1.xml" Id="R9f766cb8769940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fcf0ddc51b4e3a" /><Relationship Type="http://schemas.openxmlformats.org/officeDocument/2006/relationships/notesSlide" Target="/ppt/notesSlides/notesSlide2.xml" Id="Rcec71f29ecea45b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4f632159944900" /><Relationship Type="http://schemas.openxmlformats.org/officeDocument/2006/relationships/notesSlide" Target="/ppt/notesSlides/notesSlide3.xml" Id="R0822f1133ce94e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4f7c60a5664e58" /><Relationship Type="http://schemas.openxmlformats.org/officeDocument/2006/relationships/notesSlide" Target="/ppt/notesSlides/notesSlide4.xml" Id="R903939a2ae7546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9d2f309fd64971" /><Relationship Type="http://schemas.openxmlformats.org/officeDocument/2006/relationships/notesSlide" Target="/ppt/notesSlides/notesSlide5.xml" Id="R79c690a4f2ac4a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df110e61164e9c" /><Relationship Type="http://schemas.openxmlformats.org/officeDocument/2006/relationships/notesSlide" Target="/ppt/notesSlides/notesSlide6.xml" Id="R1fb770760a5844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3c61ee886349b4" /><Relationship Type="http://schemas.openxmlformats.org/officeDocument/2006/relationships/notesSlide" Target="/ppt/notesSlides/notesSlide7.xml" Id="R0d454fc291a44d1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93fa2d583e4cca" /><Relationship Type="http://schemas.openxmlformats.org/officeDocument/2006/relationships/notesSlide" Target="/ppt/notesSlides/notesSlide8.xml" Id="R0379b54c758b440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1f05da9e9d46ea" /><Relationship Type="http://schemas.openxmlformats.org/officeDocument/2006/relationships/notesSlide" Target="/ppt/notesSlides/notesSlide9.xml" Id="Rc66d4e5c829d45b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597f3839ae42eb" /><Relationship Type="http://schemas.openxmlformats.org/officeDocument/2006/relationships/notesSlide" Target="/ppt/notesSlides/notesSlide10.xml" Id="Rc9df467682d347b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c29d2c0da24298" /><Relationship Type="http://schemas.openxmlformats.org/officeDocument/2006/relationships/notesSlide" Target="/ppt/notesSlides/notesSlide11.xml" Id="R292f7cdfbe464b9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c38d57b6a84ced" /><Relationship Type="http://schemas.openxmlformats.org/officeDocument/2006/relationships/notesSlide" Target="/ppt/notesSlides/notesSlide12.xml" Id="Re25b96ff40884e8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2D0DA0-EF7C-4DCE-A03C-4B0141B2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484E84-1B1B-4C4C-9163-3B508B39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8D1D6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8D1D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1">
                <a:solidFill>
                  <a:srgbClr val="78D1D6"/>
                </a:solidFill>
                <a:latin typeface="Noto Sans CJK KR"/>
                <a:ea typeface="Noto Sans CJK KR"/>
                <a:cs typeface="Noto Sans CJK KR"/>
              </a:rPr>
              <a:t>FOODTECH AI RECIPE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4A44EC-1CAF-4C95-B4A5-C73CC066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9334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4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4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레시피 가상 시나리오와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4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Mock 연계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92DF2C-F096-42A1-A369-15437BBE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103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9FB1C2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9FB1C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0">
                <a:solidFill>
                  <a:srgbClr val="9FB1C2"/>
                </a:solidFill>
                <a:latin typeface="Noto Sans CJK KR"/>
                <a:ea typeface="Noto Sans CJK KR"/>
                <a:cs typeface="Noto Sans CJK KR"/>
              </a:rPr>
              <a:t>2026.10</a:t>
            </a:r>
          </a:p>
        </p:txBody>
      </p:sp>
    </p:spTree>
    <p:extLst>
      <p:ext uri="{BB962C8B-B14F-4D97-AF65-F5344CB8AC3E}">
        <p14:creationId xmlns:p14="http://schemas.microsoft.com/office/powerpoint/2010/main" val="8852083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8D3B4D-72E0-47A8-AF87-3EDB7991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B513A7-D64A-4B0A-B693-8EB10F9C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사업 요구를 조리 시나리오로 구체화했다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5A59DB-84F7-4724-838B-58D321C1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5720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21A99F-3011-4934-9EFB-6DB94ED1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287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분석 문서의 요구를 메뉴별 작업, 데이터, 판정과 검토가 이어지는 실행 흐름으로 바꿨다.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CD87E-E28B-450A-BBA0-FF35F5AF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24D880-0F2E-4222-8824-761BF66A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Foodtech AI Recipe Agent · 레시피 가상 시나리오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4AC945-1501-4C8D-83BC-09708AC4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8C07E0-4C5D-4690-ABDB-22A2750C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8859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사업 요구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1C7E4D-7415-48B7-9E18-1C406FC52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809750"/>
            <a:ext cx="72009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F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32AD1D-B158-4995-9091-DD5927A4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95475"/>
            <a:ext cx="670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장비 데이터 수집과 AI 기반 현장 맞춤형 레시피 지원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E26072-29C8-4E6F-993B-6107D505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44BD9-963D-44C9-A8C8-A11CC514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8003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가상 시나리오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EE93D8-CBDB-428E-B397-7DE5E228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724150"/>
            <a:ext cx="72009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CEB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D2DD3B-8F96-4DA2-848F-51BC98B1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09875"/>
            <a:ext cx="670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대표 메뉴의 준비, 조리, 평가와 예외를 합성 조건으로 정의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A53882-C434-49B2-A2A8-1C36B036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909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44586B-6A44-4419-A397-9F85815D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147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Mock 연계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9564F9-FEE7-4775-8E17-4B0B17FE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638550"/>
            <a:ext cx="72009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DF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2C52E7-A291-462A-B351-8440924C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24275"/>
            <a:ext cx="670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장비 없이도 동일한 사건과 오류를 반복 생성해 전체 흐름 검증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78656D-B79C-4861-9FB5-8D3164DD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107061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CBA3A9-4AA1-4141-8341-1DFF469A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482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78D1D6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78D1D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78D1D6"/>
                </a:solidFill>
                <a:latin typeface="Noto Sans CJK KR"/>
                <a:ea typeface="Noto Sans CJK KR"/>
                <a:cs typeface="Noto Sans CJK KR"/>
              </a:rPr>
              <a:t>핵심 관점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2A68B4-6D9D-4010-9D28-5501F340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962525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Mock 자체가 결과가 아니라 레시피 시나리오를 검증하는 수단이다</a:t>
            </a:r>
          </a:p>
        </p:txBody>
      </p:sp>
    </p:spTree>
    <p:extLst>
      <p:ext uri="{BB962C8B-B14F-4D97-AF65-F5344CB8AC3E}">
        <p14:creationId xmlns:p14="http://schemas.microsoft.com/office/powerpoint/2010/main" val="12800711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4CFC82-B7B6-44A8-8D63-7AEACC98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5C927B-C1B3-4CFB-B851-B5C5815B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세 가지 대표 메뉴가 장비 유형을 나눈다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AEBDE4-21E8-4713-ABF3-808F5364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5720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A0D739-13E0-45C0-A3AF-43DAA1FF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287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각 시나리오는 서로 다른 조리 특성과 센서 조합을 사용하며 실제 제조사 호환성을 주장하지 않는다.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EB50AC-692F-4122-8D1E-9E949449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5832BC-0CD4-4A73-9032-B080EF02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Foodtech AI Recipe Agent · 레시피 가상 시나리오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8BBC97-D6BC-40EA-8B8A-54668E68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3143250" cy="34480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C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788299-F558-4B30-B848-A188EDC0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36CADE-7304-4C4E-9F3A-C633ACB0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3360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돈까스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0C7383-16AC-4787-8721-E8837F44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47950"/>
            <a:ext cx="2609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rPr>
              <a:t>튀김기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597CF3-1BDD-4244-8720-2D1F9357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81350"/>
            <a:ext cx="26098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02EA3E-4654-4E9B-A211-6003ECBB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29000"/>
            <a:ext cx="2609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기름 온도와 복원시간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7CF914-DDCE-4976-AC98-BC478894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29100"/>
            <a:ext cx="2609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두께·배치중량·인양시각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53A1F-5C71-4B02-B678-2B852C8D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09750"/>
            <a:ext cx="3143250" cy="34480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C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B8C4AD-183B-426F-98D7-E8653BA0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09750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85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1F2298-1C2C-4117-ADBB-A31098AC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3360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제육볶음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0FA97A-1598-4942-AC81-54285D33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47950"/>
            <a:ext cx="2609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rPr>
              <a:t>볶음·교반기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E42098-36CB-408F-9EB4-0EB99B57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81350"/>
            <a:ext cx="26098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122243-0868-4CB5-B080-334012B2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29000"/>
            <a:ext cx="2609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표면온도와 교반 RPM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9EC83B-6CF7-44C2-84C7-C04ECE02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29100"/>
            <a:ext cx="2609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모터 부하·투입·배출 구간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2ECEE9-FB23-43E0-A5A2-BC6F1596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09750"/>
            <a:ext cx="3143250" cy="34480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C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4C5985-32CC-4D8D-B8C5-57C31C3E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09750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8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8E7938-BECD-461E-8624-ABB121D3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3360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고등어구이 정식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D75049-A358-4D3A-B06B-0016B07C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47950"/>
            <a:ext cx="2609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rPr>
              <a:t>콤비오븐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655280-E565-42CD-9815-CAF67241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81350"/>
            <a:ext cx="26098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E32CF2-19A3-42AF-A8CA-1EAC914E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29000"/>
            <a:ext cx="2609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밥 스팀과 고등어 건열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E6E764-E102-4ACB-8F9B-A63F3B7F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29100"/>
            <a:ext cx="2609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모드 전환·랙·팬·습도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1314EC-144A-4885-AEB9-A5B9B87A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02679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8ED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4C4641-2486-4191-A376-80E14972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292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공통 경계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2AFE0D-FF27-4E97-A599-AE3EEC01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600700"/>
            <a:ext cx="817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모든 수치와 장비 구성은 SYNTHETIC이며 장비 제어는 범위에 포함하지 않는다</a:t>
            </a:r>
          </a:p>
        </p:txBody>
      </p:sp>
    </p:spTree>
    <p:extLst>
      <p:ext uri="{BB962C8B-B14F-4D97-AF65-F5344CB8AC3E}">
        <p14:creationId xmlns:p14="http://schemas.microsoft.com/office/powerpoint/2010/main" val="16123046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41B388-DF3D-4766-B3A1-EC3EE84B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19D70D-9EF0-4064-9A25-63AE1D4D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조리 시나리오의 네 단계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5E7E4C-9AE7-4D11-9125-8B1B578E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5720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1A0361-30D5-4CF5-8981-5218D7A2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287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작업 진행과 공정, 안전, 품질, AI 검토는 서로 다른 상태로 관리한다.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6817AE-0059-44CF-B8DA-3EEA93A6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43D82B-74BE-422C-B6C9-B860DAA0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Foodtech AI Recipe Agent · 레시피 가상 시나리오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38ABAF-1BA5-4B03-BE26-B92DF877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2343150" cy="247650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C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D85578-1AF2-4804-ACAA-48A48115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336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C65BE8-1ADC-40A2-9D66-F0F0376A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336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6E2DBA-EA19-4E2D-A38E-08A5B60C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33700"/>
            <a:ext cx="1924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준비·예열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75AA48-7F4F-46EE-953C-5E8417A0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1924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메뉴·레시피·장비</a:t>
            </a:r>
          </a:p>
          <a:p xmlns:a="http://schemas.openxmlformats.org/drawingml/2006/main">
            <a: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배치와 시작조건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52A8DE-56DF-4A7F-A67F-124E3B82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905000"/>
            <a:ext cx="2343150" cy="247650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C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34AB94-EDE1-4498-B2A1-86B1B979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1336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8F1E75-2844-495B-B1C3-458A69EC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1336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42509C-D57D-44E8-8EB3-2BCCE2FA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933700"/>
            <a:ext cx="1924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투입·모니터링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DF214D-FC4E-4B57-8146-01D00ADA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524250"/>
            <a:ext cx="1924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시계열·단계 상태</a:t>
            </a:r>
          </a:p>
          <a:p xmlns:a="http://schemas.openxmlformats.org/drawingml/2006/main">
            <a: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운영자 사건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3BE43B-8659-4BA1-8B78-03B2F48A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05000"/>
            <a:ext cx="2343150" cy="247650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C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B786EC-83AD-4ADE-9151-BF72EC72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336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EB9786-84F6-4B49-8AFC-D2497607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336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BB26E4-16BD-493D-8C7B-216E4AD5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33700"/>
            <a:ext cx="1924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인양·평가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6C820E-16C5-43F4-9F2C-6F7CE61C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24250"/>
            <a:ext cx="1924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공정 자동판정</a:t>
            </a:r>
          </a:p>
          <a:p xmlns:a="http://schemas.openxmlformats.org/drawingml/2006/main">
            <a: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안전·품질 평가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E70121-3454-4D58-8CB3-6FD7FC41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05000"/>
            <a:ext cx="2343150" cy="247650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C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AEA136-065A-4E4F-AE16-3A7CDD7C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1336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85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D145F5-8B1C-4372-902C-FCA1B18C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1336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D2F12B-A864-428C-BE2A-A722DE43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33700"/>
            <a:ext cx="1924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AI 권고 검토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9A0101-66E4-45C7-AC74-3D6B1DCE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524250"/>
            <a:ext cx="1924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변경 전후·제약</a:t>
            </a:r>
          </a:p>
          <a:p xmlns:a="http://schemas.openxmlformats.org/drawingml/2006/main">
            <a: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채택 또는 거부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DECC09-DCE9-4C4D-A4EE-DF8095C8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10572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8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4549C8-AF85-444E-91FB-42F3C92D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482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>
            <a:defPPr algn="l">
              <a:defRPr sz="1950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rPr>
              <a:t>하나의 합격 토글을 사용하지 않는다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8B86EC-F988-4429-88E0-497A4862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5054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>
            <a:def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작업 완료와 안전 통과, 품질평가 완료, AI 권고 채택은 서로 다른 질문에 답한다</a:t>
            </a:r>
          </a:p>
        </p:txBody>
      </p:sp>
    </p:spTree>
    <p:extLst>
      <p:ext uri="{BB962C8B-B14F-4D97-AF65-F5344CB8AC3E}">
        <p14:creationId xmlns:p14="http://schemas.microsoft.com/office/powerpoint/2010/main" val="16191958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1E9D51-5A91-4B94-B9BE-77D1F982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E7EFBA-F8AB-4043-9854-B91C672A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돈까스 시나리오는 온도 복원과 인양시각을 본다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E3F17F-8D74-407E-91AE-676CA485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5720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8EFD53-D80E-4810-BE04-1909CDF3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287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두께별 목표시간과 배치중량을 함께 적용하고 안전판정은 심부온도 시계열로 분리한다.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6A8178-D7F3-4CFF-9D67-79DAA4E8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12F874-E562-453E-BADE-6660AD8D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Foodtech AI Recipe Agent · 레시피 가상 시나리오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5FDB4D-F118-4962-9D82-5454D6BB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rPr>
              <a:t>합성 조리 조건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043C97-527E-4699-A84B-CF7ECC7E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4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rPr>
              <a:t>165–175°C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810F99-D7C9-4E0E-99CE-4A101E4C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기름 정상 범위 · 목표 170°C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67059A-BD0E-446C-A8CE-2833D05F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1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rPr>
              <a:t>2.4kg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194992-9165-4C71-9F1D-A7D72789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목표 배치중량 · 허용 2.3–2.5kg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957EA6-B3BA-40C7-BE6D-78916207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52600"/>
            <a:ext cx="68389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C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ABC015-E9F4-4FC5-B487-A2601006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621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두께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35DF51-DFE3-4D65-82D4-74BD4DB6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384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Thin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1BEC55-45BC-4FA9-A46B-3B3B0ADB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908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Standard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AEB9AA-87C6-4C23-8498-CD20CD18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433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Thick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B73500-2018-4651-AAE1-AF4D418C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621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목표시간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234CD0-0D24-4653-9D49-9EDDEC42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384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rPr>
              <a:t>180초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69C8D5-E84C-4793-90F9-B467D060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908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rPr>
              <a:t>300초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20D614-DDCE-4E86-9C7B-8F37AF94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433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rPr>
              <a:t>360초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2DC18A-DA88-40C6-8302-42848F24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621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핵심 판정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933CF6-006A-44A7-8218-7FA3AC35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384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165°C 복원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C2D2C7-5223-41F8-9C63-A7DC4350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908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인양시각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851E90-BC9F-4ACC-9B12-D29F8043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433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75°C · 60초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AEEE19-6909-4DCC-9B58-B21F8609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105537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F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FE3F31-45FA-4274-924C-1AA75DF3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911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rPr>
              <a:t>Mock 역할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B1807D-61FB-4E6E-80E4-DA77D929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95900"/>
            <a:ext cx="828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투입 뒤 온도 하락, 회복, 결손과 추가 가열 구간을 같은 조건으로 반복 생성</a:t>
            </a:r>
          </a:p>
        </p:txBody>
      </p:sp>
    </p:spTree>
    <p:extLst>
      <p:ext uri="{BB962C8B-B14F-4D97-AF65-F5344CB8AC3E}">
        <p14:creationId xmlns:p14="http://schemas.microsoft.com/office/powerpoint/2010/main" val="14184815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41825B6-07C6-4674-945B-03116FFC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7850ED-76D1-4442-B63F-482430F5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제육볶음의 하중과 교반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488046-871E-4E64-8F4F-5F8EC933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5720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1AE098-015B-4663-AF9B-C72D569D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287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고기·채소·소스 투입 사건과 온도, RPM, 모터 부하, 배출 구간을 함께 기록한다.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77F5A5-1BDF-4497-90D8-714ED5A90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3919A5-9A98-4582-9275-EBA30745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Foodtech AI Recipe Agent · 레시피 가상 시나리오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7EC3D9-3DA9-45D5-8009-C36D4916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30099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C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B932D7-A8BD-4CBF-B62B-FE10C862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81200"/>
            <a:ext cx="2514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851"/>
          </a:bodyPr>
          <a:lstStyle xmlns:a="http://schemas.openxmlformats.org/drawingml/2006/main">
            <a:defPPr algn="l">
              <a:defRPr sz="217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rPr>
              <a:t>소형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241488-73E5-436D-B691-39FFF512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2890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목표 투입량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D836B5-2AA2-4A9B-88A3-908C03A6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59080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1.8kg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9965EE-24CA-4FD5-B168-BF4948EE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0515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표면온도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F01527-A0B5-49C5-AD7A-360A59D2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670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200°C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518623-3E6F-4631-9729-6F883AC7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8140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교반속도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46A9C4-188A-49EC-AF81-ECADA365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54330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30rpm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0E6673-4A49-4B0D-9496-B455BEDF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5765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조리시간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5FBC1B-0AAB-4F2F-B228-082D4727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0195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480초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D69A37-717D-4125-A0CB-866999CA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752600"/>
            <a:ext cx="30099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C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9BF928-46AB-4B20-AADD-F7E0A114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81200"/>
            <a:ext cx="2514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851"/>
          </a:bodyPr>
          <a:lstStyle xmlns:a="http://schemas.openxmlformats.org/drawingml/2006/main">
            <a:defPPr algn="l">
              <a:defRPr sz="217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rPr>
              <a:t>중형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18C058-B76C-40C0-ADB6-A7DC0D78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2890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목표 투입량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62B11B-C31D-4F0D-B98F-20211A2F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59080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12.0kg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2A6289-F49D-4A12-B895-D5E08E3C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0515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표면온도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B66319-030D-4E7F-9080-BF739F76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0670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180°C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B3EBFA-B0A7-4459-B435-39B310BD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8140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교반속도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82D962-D2A2-4589-8F35-F0A88009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54330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20rpm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1282DC-80F6-47F4-9BBB-F6FC8ABE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5765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조리시간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8C34B2-3F93-4B72-A0CF-C3648986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0195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900초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8BAC73-FAB8-4EAA-B417-627F3880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752600"/>
            <a:ext cx="30099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C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2EDE07-92C7-428E-B95A-A5E57B0B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981200"/>
            <a:ext cx="2514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851"/>
          </a:bodyPr>
          <a:lstStyle xmlns:a="http://schemas.openxmlformats.org/drawingml/2006/main">
            <a:defPPr algn="l">
              <a:defRPr sz="2175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rPr>
              <a:t>대형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B3C7F1-89B1-47E7-A291-565496E3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2890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목표 투입량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C9F44A-0B4B-4625-8F3E-5C846B6E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9080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60.0kg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D5D900-203E-4894-89F4-52A48E99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0515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표면온도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B44610-2447-4325-B16D-2749678D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670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160°C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EE5B7F-2D94-4A27-80A4-7F77B441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8140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교반속도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CED7B2-9613-4FA9-AC62-71FCB2BB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54330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10rpm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DEE30E-E2B8-4D52-9399-33EF8D75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5765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조리시간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423DA5-AA79-4B9E-8635-5541F62B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1,500초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B3CA74-8552-4150-96B8-EC062FA1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96393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CEB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4DA82E4-DC18-471B-8485-7B21CEDB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435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rPr>
              <a:t>교반 걸림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E3B792D-70EC-4F04-BCDD-43F036A4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06730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저속 + 모터 부하 90% 초과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C110D5-EE37-4429-80AF-1A3909C2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010150"/>
            <a:ext cx="914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rPr>
              <a:t>5초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FD17C26-519C-4ECB-BACD-FA792941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46735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>
            <a:defPPr algn="ctr">
              <a:defRPr sz="1275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경고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1728BCA-0543-4400-A9D8-9AC489F8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010150"/>
            <a:ext cx="104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rPr>
              <a:t>30초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78AB6C1-8DEC-4248-BF23-A917C706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4673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>
            <a:defPPr algn="ctr">
              <a:defRPr sz="1275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실패</a:t>
            </a:r>
          </a:p>
        </p:txBody>
      </p:sp>
    </p:spTree>
    <p:extLst>
      <p:ext uri="{BB962C8B-B14F-4D97-AF65-F5344CB8AC3E}">
        <p14:creationId xmlns:p14="http://schemas.microsoft.com/office/powerpoint/2010/main" val="4258322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CE1F25-77FB-49B5-AC0D-942174CC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C42D8D-96C1-4BCB-A0B5-2DC662D9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고등어구이 정식은 두 조리작업과 모드 전환을 연결한다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4FD9A1-491A-4D3D-BF7E-2C4606A4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5720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A00A13-3927-427D-97DE-C0DEF334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287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밥과 고등어는 같은 식사 배치에 속하지만 프로그램, 단계와 판정은 독립적으로 보존한다.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88BD8F-363F-4F0C-AF15-00280915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431016-A4D6-4F98-8C32-61EC427F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Foodtech AI Recipe Agent · 레시피 가상 시나리오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185F2B-314F-4978-95D1-6B830CA9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220AAF-98E4-4D6C-B6DF-64DEE178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7526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밥 스팀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4D0150-1BB7-444B-A39A-1545C5F5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676400"/>
            <a:ext cx="72009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F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F63CD8-48C5-49C7-994E-48021A4F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62125"/>
            <a:ext cx="670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100°C · 기후 설정 100% · 1,800초 · 팬 단계 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20B8D8-4FCD-423E-9411-11767889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2BD312-17D7-4FE6-961F-F60448D5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6098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챔버 전환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85249D-271A-4AA4-A95E-D62EAC9F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533650"/>
            <a:ext cx="72009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CEB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B9CE78-9210-4EAC-AEEF-2C30D147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19375"/>
            <a:ext cx="670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밥 인양 뒤 건조 · 215–225°C를 30초 유지 · 문 닫힘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2696ED-F5A5-4267-9DA4-4DB41064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A29D93-A16D-4785-9C9D-8CD5B452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4671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고등어 건열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3F5609-A244-4612-A3B7-DB553516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390900"/>
            <a:ext cx="72009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DF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C5FBB8-229A-4C65-9DEB-80CEF2B3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76625"/>
            <a:ext cx="670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220°C · 기후 설정 10% · 720초 · 팬 단계 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709BC2-3CF2-4993-B860-FE5CBE88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107061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C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087E01-6B4F-4638-ADBA-1386D1D5A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053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분리해서 보는 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CAA765-8635-440C-A398-29AC36F7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197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>
            <a:def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기후 설정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7EEE85-E337-4E94-BA1E-CFA62FF3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2197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>
            <a:def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실제 습도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DE9CF8-8BA5-4ED3-AE50-F72D3689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2197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>
            <a:def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프로그램 완료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E17516-101F-4F80-B8E0-DCD643CF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2197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>
            <a:def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식품 인양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260A2E-73A5-4E7A-A219-A308979E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2197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>
            <a:def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랙·팬 위치</a:t>
            </a:r>
          </a:p>
        </p:txBody>
      </p:sp>
    </p:spTree>
    <p:extLst>
      <p:ext uri="{BB962C8B-B14F-4D97-AF65-F5344CB8AC3E}">
        <p14:creationId xmlns:p14="http://schemas.microsoft.com/office/powerpoint/2010/main" val="17118554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317E7F-B376-4409-A679-D591D867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D6BEEA-E37B-450C-8911-1A969B42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조리조건을 Mock 사건과 시계열로 변환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7C3FC4-0D97-405D-9BE4-97B3DA0C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5720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22CE16-14E2-4D86-9CFA-39658643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287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한 시나리오의 준비조건, 측정값, 운영자 입력과 평가를 동일한 작업 식별자로 연결한다.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01178D-67C7-4D94-A872-86A4C70A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930E82-429D-444C-BB9E-ECFB67C8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Foodtech AI Recipe Agent · 레시피 가상 시나리오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24AA84-BCF7-475E-A3EB-3F9B2390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33550"/>
            <a:ext cx="100203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CEB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E362A6-BA4E-4FA2-B60C-D33DD84D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478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rPr>
              <a:t>시나리오 조건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B62FF4-A4E9-4FE6-B77F-46661448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4785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메뉴 · 배치 · 단계 · 합성 임계치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1D3C2B-8C22-4C97-8859-E326A283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05100"/>
            <a:ext cx="100203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F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A58ADF-31BD-488D-ACC2-2192AFDA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1940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rPr>
              <a:t>원천 이벤트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F92511-5A45-4DE7-B880-B816426B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1940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설정 · 측정 · 상태 · 투입 · 인양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4451EB-3F40-446C-9696-9A9425A8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76650"/>
            <a:ext cx="100203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DF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5D0CEE-935D-471A-A408-C279837A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909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rPr>
              <a:t>표준 데이터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1A3624-A91D-4DD3-AF5A-74A6EB2E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9095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단위 · 코드 · 시간축 · 품질 finding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EBFD3F-CCE4-42ED-AE89-2DC99A5D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48200"/>
            <a:ext cx="100203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ED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58EEAC-29D4-4064-982F-6FCC1AE7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6250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업무 결과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04E0BF-CDB9-48A7-9070-3437F062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6250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공정 · 안전 · 품질 · AI 검토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974F78-823C-4BF8-A898-107500CF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340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rPr>
              <a:t>공통 연결키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CDC55E-0588-471B-B9D1-68DC0374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657850"/>
            <a:ext cx="828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845"/>
          </a:bodyPr>
          <a:lstStyle xmlns:a="http://schemas.openxmlformats.org/drawingml/2006/main">
            <a:defPPr algn="l">
              <a:defRPr sz="15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meal_batch_id · cooking_job_id · device_id · mock_instance_id · recipe_version_id</a:t>
            </a:r>
          </a:p>
        </p:txBody>
      </p:sp>
    </p:spTree>
    <p:extLst>
      <p:ext uri="{BB962C8B-B14F-4D97-AF65-F5344CB8AC3E}">
        <p14:creationId xmlns:p14="http://schemas.microsoft.com/office/powerpoint/2010/main" val="12563521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C1B462-F993-493C-BFFF-CB1BCF3B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6D6E62-FBE2-4086-A6A8-05CF39C0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Mock은 같은 레시피를 다른 입력 표현으로 반복한다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104C41-17AE-4C0C-92C8-A1EA5F2B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5720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10A41B-4227-4283-AF8E-4F9B877C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287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프로파일은 전달 방식과 장비 유형을, fixture는 제조사별 표현 차이를 담당한다.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99B7B9-7438-4DAE-A347-44C5D009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F60874-13AB-4E1B-AF5F-46AEDF69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Foodtech AI Recipe Agent · 레시피 가상 시나리오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A4B349-7359-45D4-82F2-D58DD703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142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095"/>
          </a:bodyPr>
          <a:lstStyle xmlns:a="http://schemas.openxmlformats.org/drawingml/2006/main">
            <a:defPPr algn="ctr">
              <a:defRPr sz="52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52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52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rPr>
              <a:t>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BAB29C-FA18-40FC-9116-326F8675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프로파일 계열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8E6985-18B7-4DB9-8B9F-C5C90EC4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3835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300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E8A99B-34E0-4511-993A-B91C3FAA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790700"/>
            <a:ext cx="114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095"/>
          </a:bodyPr>
          <a:lstStyle xmlns:a="http://schemas.openxmlformats.org/drawingml/2006/main">
            <a:defPPr algn="ctr">
              <a:defRPr sz="52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52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52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C4D4E1-8CD3-46EF-A151-23BD30DD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479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가상 fixture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D85740-CEBF-4112-8295-2AE07EE0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03835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300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=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2470AA-D67A-4DF8-88D2-B2240E76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752600"/>
            <a:ext cx="54673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6A0025-741A-4277-96B1-B82CEA0B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943100"/>
            <a:ext cx="4895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7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최소 63개 인스턴스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B95D72-CC94-44EC-BD44-6A40A6AC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76500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ctr">
              <a:defRPr sz="1350" b="0">
                <a:solidFill>
                  <a:srgbClr val="B7C6D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B7C6D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B7C6D3"/>
                </a:solidFill>
                <a:latin typeface="Noto Sans CJK KR"/>
                <a:ea typeface="Noto Sans CJK KR"/>
                <a:cs typeface="Noto Sans CJK KR"/>
              </a:rPr>
              <a:t>REST · OPC UA · MQTT와 장비 유형 조합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43A197-82DC-4852-9DB2-2651BC48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102298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F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AE86F0-3F14-4DEA-AB17-33D5BBF6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rPr>
              <a:t>vendor-a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D059D7-49A5-4B4D-9653-67E0F2E8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8615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camelCase · nested · °C · ISO UTC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196DF7-CC03-4205-AD2B-B1D937CB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102298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CEB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4787F6-5F19-4E6D-9184-CBBA8EF0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672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rPr>
              <a:t>vendor-b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46DBDA-C471-4187-828B-2E9E0B15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6720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snake_case · flat · °F · Unix 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0F2E39-A99F-432D-A4FC-A53C3618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102298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DF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8B74F9-1E56-43F1-AB96-7981118A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482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rPr>
              <a:t>vendor-c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1614DA-CE7D-4880-8B90-05B293F0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4825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PascalCase · mixed · 코드·약어</a:t>
            </a:r>
          </a:p>
        </p:txBody>
      </p:sp>
    </p:spTree>
    <p:extLst>
      <p:ext uri="{BB962C8B-B14F-4D97-AF65-F5344CB8AC3E}">
        <p14:creationId xmlns:p14="http://schemas.microsoft.com/office/powerpoint/2010/main" val="10493409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3733AD-ED7B-481B-ADC3-2D7AFEF1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497E5D-103A-4C8D-8DA6-6AE3BD88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오류 주입과 비파괴 복구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8ED0CA-F80B-4301-821E-FD08729D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5720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8BE37C-1893-4104-90D5-DCDBEB4B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287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결손과 늦은 도착, 중복, 스키마 오류를 정상 시나리오와 분리해 재현한다.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CCDFF9-4B94-48BD-A9F7-6BD69F23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2F3FAF-84DA-434C-A3C5-3F7B12DB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Foodtech AI Recipe Agent · 레시피 가상 시나리오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F85A9-D561-4CBC-B7F9-984E77D3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rPr>
              <a:t>결손과 늦은 도착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DE0D6F-E855-4A57-A43E-09DAB790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44386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1FEBFA-8756-4E70-A8AF-1A222991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050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53C987-61E8-487D-A828-A544DD12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050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5F4746-F80F-4096-9520-D8879EC5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7432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감지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AA0BDE-349C-4724-8AAE-5B93FA71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050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85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6CC257-2FD7-408E-80FA-0D1BFF3C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050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5초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A1797C-2060-4F39-A247-86BA983D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7432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결손 확정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BF06B4-7F70-444B-93A5-5C30771B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1050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4D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358EEB-16D1-4497-8223-9E40F61A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1050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30초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52C4B4-6555-4CB9-96F6-4469AA1B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7432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연결 상실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046A5B-78B7-4865-BCCC-2C7DCC3E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5029200" cy="21526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C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9F03AB-1E05-4C1F-B83D-AC508829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004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rPr>
              <a:t>늦게 도착한 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D04F83-B8F9-47F1-850E-DA1DDE57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>
            <a:def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이전 결과에 삽입하지 않는다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E5B029-A36E-4638-B1A0-84F1F2D0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339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>
            <a:def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LATE_AFTER_GAP finding을 남긴다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8B03EE-CBFD-429F-8CB4-F928173A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720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>
            <a:def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부모를 가진 새 파생 버전을 만든다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89B2A7-9904-49FF-B4DE-98C85301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95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rPr>
              <a:t>품질 검토와 재처리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114B42-71CD-4D52-AA6B-1D97188F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95500"/>
            <a:ext cx="45529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F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6CF0A1-898D-4438-8C89-49C2D799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717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rPr>
              <a:t>자동판정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E276F9-4E83-4F3C-A2F4-BCDBAE29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71700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30"/>
          </a:bodyPr>
          <a:lstStyle xmlns:a="http://schemas.openxmlformats.org/drawingml/2006/main">
            <a:defPPr algn="l">
              <a:defRPr sz="13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VALID · WARNING · QUARANTINED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425E0E-6104-4D51-AE78-2F24D4CC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19400"/>
            <a:ext cx="45529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CEB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0EAF6A-12B2-4333-9A3A-FFD35473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3370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rPr>
              <a:t>WARNING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4E14FC-A91A-444E-9428-187AAB9F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33700"/>
            <a:ext cx="2305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확인 또는 기각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2C3362-B566-4B89-8BB1-323280B6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95700"/>
            <a:ext cx="45529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BF5205-F4A8-427A-8B63-BC65C647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81000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rPr>
              <a:t>QUARANTINED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F1E72A-64A6-49A9-BCBB-CC73EBA8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10000"/>
            <a:ext cx="2305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확인 또는 재처리 요청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E09CBC-165C-46B8-BB2D-503C000A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72000"/>
            <a:ext cx="45529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DF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42EECE-AB74-4750-8654-5DDC4EB5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68630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rPr>
              <a:t>REPROCESS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71A6F8B-5E4A-4210-B92E-A412F962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686300"/>
            <a:ext cx="2305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원본 유지 · 새 파생 버전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A028C4-9F20-4A41-A6A3-D0B1DF7C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467350"/>
            <a:ext cx="455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검토자가 원 판정을 직접 VALID로 바꾸지 않는다</a:t>
            </a:r>
          </a:p>
        </p:txBody>
      </p:sp>
    </p:spTree>
    <p:extLst>
      <p:ext uri="{BB962C8B-B14F-4D97-AF65-F5344CB8AC3E}">
        <p14:creationId xmlns:p14="http://schemas.microsoft.com/office/powerpoint/2010/main" val="11939014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9A7688-757E-439A-AD98-F3514671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E95D4D-65C9-4E04-9FD3-B9E46973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AI 권고의 생성과 검토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14D40E-CEC3-4C24-8344-EA8A4806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5720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5566CC-73C9-48F7-BAC7-E3168162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287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데이터가 부족하거나 안전 경계를 벗어나면 값을 보정하지 않고 판단 불가를 반환한다.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DF79BB-9EE2-4B3C-B5D5-5B2AE36A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318314-2927-4367-9CB4-39A66FDA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Foodtech AI Recipe Agent · 레시피 가상 시나리오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FC7A56-6C95-4E64-A4EE-FA6EEBDC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2286000" cy="2476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C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641BA3-AE8D-4133-826D-EF752FF1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336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911489-DBCC-4315-8D7F-D7E96660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336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A0C370-7D24-4699-81F2-72BD9AD7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146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>
            <a:defPPr algn="l">
              <a:def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입력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F83CC-5464-4211-BA4A-299E5844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24250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레시피 버전</a:t>
            </a:r>
          </a:p>
          <a:p xmlns:a="http://schemas.openxmlformats.org/drawingml/2006/main">
            <a: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설정·측정·평가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C448A8-6634-4647-A1C8-ECDA7707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24050"/>
            <a:ext cx="2286000" cy="2476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C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BC09B3-CEF5-46E4-BD47-D827D90B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336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81F8CB-67AE-486A-BC33-4A3F15A4F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336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91351E-140B-4B74-8679-D27E4FE8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146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>
            <a:defPPr algn="l">
              <a:def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검증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2C516D-298A-4DFE-AF07-81AC45D5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24250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데이터 완전성</a:t>
            </a:r>
          </a:p>
          <a:p xmlns:a="http://schemas.openxmlformats.org/drawingml/2006/main">
            <a: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범위·장비 지원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F9B220-285B-4D92-B858-CE86664B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24050"/>
            <a:ext cx="2286000" cy="2476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C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81AF26-EDBE-4BBA-A87B-06E92A4C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336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63A49A-7D50-4430-98E2-F8A98E57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336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B0A92B-F8A8-4F99-8FA3-4F842874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146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>
            <a:defPPr algn="l">
              <a:def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후보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68E23B-A5CA-4F65-BC5B-C2E1FD95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24250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변경 전후 조건</a:t>
            </a:r>
          </a:p>
          <a:p xmlns:a="http://schemas.openxmlformats.org/drawingml/2006/main">
            <a: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제약·판단 사유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2097D6-FE3B-41B0-B168-2462E3DD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24050"/>
            <a:ext cx="2286000" cy="2476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C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8E67BE-F207-4963-B048-C6CB94A2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336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85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EA9D5C-1626-4C90-A1A4-13DB04EB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336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EEBA1A-07BC-4893-B0C6-9B813DB4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146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>
            <a:defPPr algn="l">
              <a:def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검토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C58466-671E-476C-9D33-8E35B2A7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524250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82"/>
          </a:bodyPr>
          <a:lstStyle xmlns:a="http://schemas.openxmlformats.org/drawingml/2006/main">
            <a:def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PENDING</a:t>
            </a:r>
          </a:p>
          <a:p xmlns:a="http://schemas.openxmlformats.org/drawingml/2006/main">
            <a: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ACCEPTED · REJECTED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A3792C-6C28-440F-93BB-16DD8CF49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10287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9F721F-04A8-4088-91DA-44B1D38F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48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rPr>
              <a:t>자동 적용 금지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78FD64-280E-4584-BBE9-059038AF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972050"/>
            <a:ext cx="7353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권고는 장비에 전송하지 않으며 승인 뒤에도 새 후보 레시피 버전으로 보존한다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3E901D-9A02-40FD-A430-AFFA90FE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24500"/>
            <a:ext cx="958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>
            <a:defPPr algn="l">
              <a:defRPr sz="1425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공정 · 안전 · 품질 · AI 검토 상태를 각각 기록</a:t>
            </a:r>
          </a:p>
        </p:txBody>
      </p:sp>
    </p:spTree>
    <p:extLst>
      <p:ext uri="{BB962C8B-B14F-4D97-AF65-F5344CB8AC3E}">
        <p14:creationId xmlns:p14="http://schemas.microsoft.com/office/powerpoint/2010/main" val="1296314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CC3E3C-6B51-4C92-A860-099E953F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471AB6-1CC0-420A-B4FC-58FB7EF4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가상 시나리오로 요구와 검증을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951AA8-B8A5-494C-A76C-5E07AF6D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5720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415204-28A9-4334-B5ED-D2EF4856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A9FB11-91E9-47DC-A417-138ED2B5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Foodtech AI Recipe Agent · 레시피 가상 시나리오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A3F625-6FF0-4874-8209-A5D80C33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10668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F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948749-40F6-4C72-9BCD-E6A23C0E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09725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rPr>
              <a:t>레시피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F2E841-D403-4881-AC6B-E8526DED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609725"/>
            <a:ext cx="802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대표 메뉴가 조리단계와 필요한 데이터를 정한다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4F8283-A73F-486A-87D1-5856B5C6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0668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CEB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779C71-B695-415B-8871-50B411D7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19375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rPr>
              <a:t>Mock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583ED5-E4A7-49FE-9817-E740D7A3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19375"/>
            <a:ext cx="802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같은 조건과 오류를 반복 생성해 장비 없는 환경을 보완한다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1A1C65-A500-4EF9-8534-50B9835F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10668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DF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EFC52C-9D47-4600-B76B-90BBD3C1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29025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rPr>
              <a:t>검증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D1F7BD-E381-4068-8072-DEDCBD59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629025"/>
            <a:ext cx="802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수집부터 판정, 평가와 AI 검토까지 결과를 추적한다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68FE09-100D-4C34-929D-46214437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00600"/>
            <a:ext cx="10668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64A223-DC18-4B48-A175-E704338B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952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597A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34"/>
          </a:bodyPr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FC56BC-82F7-4841-AF94-9D568A79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101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요구사항 정의서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01F0B8-CC42-493C-BFB4-699E24BE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010150"/>
            <a:ext cx="1047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985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046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SRS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18E1CF-94D9-4852-B36C-A181D119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0101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요구사항 명세서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AB46BC-493C-4050-9DB0-B438CCC6B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010150"/>
            <a:ext cx="1047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D8A6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046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DCD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0AC5A1-A63A-497A-8ADE-B5F97867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010150"/>
            <a:ext cx="154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08"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데이터 수집 정의서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236361-AF37-46AC-BFE8-11084178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43550"/>
            <a:ext cx="998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B7C6D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B7C6D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B7C6D3"/>
                </a:solidFill>
                <a:latin typeface="Noto Sans CJK KR"/>
                <a:ea typeface="Noto Sans CJK KR"/>
                <a:cs typeface="Noto Sans CJK KR"/>
              </a:rPr>
              <a:t>세 문서의 요구를 대표 메뉴 시나리오와 Mock 검증 흐름으로 구체화했다</a:t>
            </a:r>
          </a:p>
        </p:txBody>
      </p:sp>
    </p:spTree>
    <p:extLst>
      <p:ext uri="{BB962C8B-B14F-4D97-AF65-F5344CB8AC3E}">
        <p14:creationId xmlns:p14="http://schemas.microsoft.com/office/powerpoint/2010/main" val="2368406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2026-10-11T07:07:23.4300000Z</dcterms:created>
  <dcterms:modified xsi:type="dcterms:W3CDTF">2026-10-11T07:07:23.4300000Z</dcterms:modified>
</coreProperties>
</file>