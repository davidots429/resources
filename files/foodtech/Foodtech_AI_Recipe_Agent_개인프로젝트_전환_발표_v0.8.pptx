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03e319fd643d3" /><Relationship Type="http://schemas.openxmlformats.org/officeDocument/2006/relationships/extended-properties" Target="/docProps/app.xml" Id="R0ef5a28cc18b46c1" /><Relationship Type="http://schemas.openxmlformats.org/officeDocument/2006/relationships/officeDocument" Target="/ppt/presentation.xml" Id="R5dbaa750fd92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2ad1e647a4a54"/>
  </p:sldMasterIdLst>
  <p:notesMasterIdLst>
    <p:notesMasterId xmlns:r="http://schemas.openxmlformats.org/officeDocument/2006/relationships" r:id="R1cfe6735e62e4130"/>
  </p:notesMasterIdLst>
  <p:sldIdLst>
    <p:sldId xmlns:r="http://schemas.openxmlformats.org/officeDocument/2006/relationships" id="256" r:id="Rcfecd8448bd14565"/>
    <p:sldId xmlns:r="http://schemas.openxmlformats.org/officeDocument/2006/relationships" id="257" r:id="Rfe3d9794aee043e3"/>
    <p:sldId xmlns:r="http://schemas.openxmlformats.org/officeDocument/2006/relationships" id="258" r:id="Re559937fcfc247b8"/>
    <p:sldId xmlns:r="http://schemas.openxmlformats.org/officeDocument/2006/relationships" id="259" r:id="R8573d0460b1f4c46"/>
    <p:sldId xmlns:r="http://schemas.openxmlformats.org/officeDocument/2006/relationships" id="260" r:id="R4620dd859baa44b8"/>
    <p:sldId xmlns:r="http://schemas.openxmlformats.org/officeDocument/2006/relationships" id="261" r:id="R5f40d13d3dad44b7"/>
    <p:sldId xmlns:r="http://schemas.openxmlformats.org/officeDocument/2006/relationships" id="262" r:id="Refc0a2588ada400a"/>
    <p:sldId xmlns:r="http://schemas.openxmlformats.org/officeDocument/2006/relationships" id="263" r:id="Rbe7f6eaef83b4280"/>
    <p:sldId xmlns:r="http://schemas.openxmlformats.org/officeDocument/2006/relationships" id="264" r:id="R6429c3e984a747fe"/>
    <p:sldId xmlns:r="http://schemas.openxmlformats.org/officeDocument/2006/relationships" id="265" r:id="Rfc99d41027a244c2"/>
    <p:sldId xmlns:r="http://schemas.openxmlformats.org/officeDocument/2006/relationships" id="266" r:id="R9eadc7dabb544a8c"/>
    <p:sldId xmlns:r="http://schemas.openxmlformats.org/officeDocument/2006/relationships" id="267" r:id="Rdaa969710068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a5c695db854446" /><Relationship Type="http://schemas.openxmlformats.org/officeDocument/2006/relationships/slideMaster" Target="/ppt/slideMasters/slideMaster1.xml" Id="Ra842ad1e647a4a54" /><Relationship Type="http://schemas.openxmlformats.org/officeDocument/2006/relationships/notesMaster" Target="/ppt/notesMasters/notesMaster1.xml" Id="R1cfe6735e62e4130" /><Relationship Type="http://schemas.openxmlformats.org/officeDocument/2006/relationships/presProps" Target="/ppt/presProps.xml" Id="R58e2c98148134aff" /><Relationship Type="http://schemas.openxmlformats.org/officeDocument/2006/relationships/tableStyles" Target="/ppt/tableStyles.xml" Id="R32b7a6914e654a99" /><Relationship Type="http://schemas.openxmlformats.org/officeDocument/2006/relationships/slide" Target="/ppt/slides/slide1.xml" Id="Rcfecd8448bd14565" /><Relationship Type="http://schemas.openxmlformats.org/officeDocument/2006/relationships/slide" Target="/ppt/slides/slide2.xml" Id="Rfe3d9794aee043e3" /><Relationship Type="http://schemas.openxmlformats.org/officeDocument/2006/relationships/slide" Target="/ppt/slides/slide3.xml" Id="Re559937fcfc247b8" /><Relationship Type="http://schemas.openxmlformats.org/officeDocument/2006/relationships/slide" Target="/ppt/slides/slide4.xml" Id="R8573d0460b1f4c46" /><Relationship Type="http://schemas.openxmlformats.org/officeDocument/2006/relationships/slide" Target="/ppt/slides/slide5.xml" Id="R4620dd859baa44b8" /><Relationship Type="http://schemas.openxmlformats.org/officeDocument/2006/relationships/slide" Target="/ppt/slides/slide6.xml" Id="R5f40d13d3dad44b7" /><Relationship Type="http://schemas.openxmlformats.org/officeDocument/2006/relationships/slide" Target="/ppt/slides/slide7.xml" Id="Refc0a2588ada400a" /><Relationship Type="http://schemas.openxmlformats.org/officeDocument/2006/relationships/slide" Target="/ppt/slides/slide8.xml" Id="Rbe7f6eaef83b4280" /><Relationship Type="http://schemas.openxmlformats.org/officeDocument/2006/relationships/slide" Target="/ppt/slides/slide9.xml" Id="R6429c3e984a747fe" /><Relationship Type="http://schemas.openxmlformats.org/officeDocument/2006/relationships/slide" Target="/ppt/slides/slide10.xml" Id="Rfc99d41027a244c2" /><Relationship Type="http://schemas.openxmlformats.org/officeDocument/2006/relationships/slide" Target="/ppt/slides/slide11.xml" Id="R9eadc7dabb544a8c" /><Relationship Type="http://schemas.openxmlformats.org/officeDocument/2006/relationships/slide" Target="/ppt/slides/slide12.xml" Id="Rdaa969710068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9e1bd6d03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b4cf7a44a474e" /><Relationship Type="http://schemas.openxmlformats.org/officeDocument/2006/relationships/notesMaster" Target="/ppt/notesMasters/notesMaster1.xml" Id="Rcb0760c8a9f6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2e6d436ba46b1" /><Relationship Type="http://schemas.openxmlformats.org/officeDocument/2006/relationships/notesMaster" Target="/ppt/notesMasters/notesMaster1.xml" Id="R543b484b6f74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aab7d959a4925" /><Relationship Type="http://schemas.openxmlformats.org/officeDocument/2006/relationships/notesMaster" Target="/ppt/notesMasters/notesMaster1.xml" Id="Racda7496164142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a6063200114b1b" /><Relationship Type="http://schemas.openxmlformats.org/officeDocument/2006/relationships/notesMaster" Target="/ppt/notesMasters/notesMaster1.xml" Id="R723dea25b66343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5720ed4494cf7" /><Relationship Type="http://schemas.openxmlformats.org/officeDocument/2006/relationships/notesMaster" Target="/ppt/notesMasters/notesMaster1.xml" Id="R23f98967aed747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a3bc1073440c8" /><Relationship Type="http://schemas.openxmlformats.org/officeDocument/2006/relationships/notesMaster" Target="/ppt/notesMasters/notesMaster1.xml" Id="R0f5a25d05ba0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dfde7475f425a" /><Relationship Type="http://schemas.openxmlformats.org/officeDocument/2006/relationships/notesMaster" Target="/ppt/notesMasters/notesMaster1.xml" Id="R8b7145f01de343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dc95d227924648" /><Relationship Type="http://schemas.openxmlformats.org/officeDocument/2006/relationships/notesMaster" Target="/ppt/notesMasters/notesMaster1.xml" Id="Rcb7589ccbf53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7f45152f064807" /><Relationship Type="http://schemas.openxmlformats.org/officeDocument/2006/relationships/notesMaster" Target="/ppt/notesMasters/notesMaster1.xml" Id="R0a62a886db354a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849df49d93449b" /><Relationship Type="http://schemas.openxmlformats.org/officeDocument/2006/relationships/notesMaster" Target="/ppt/notesMasters/notesMaster1.xml" Id="R461d536df01b46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62c24bf0414d7e" /><Relationship Type="http://schemas.openxmlformats.org/officeDocument/2006/relationships/notesMaster" Target="/ppt/notesMasters/notesMaster1.xml" Id="R71ce148e60534d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6ff6f5b3a34cfc" /><Relationship Type="http://schemas.openxmlformats.org/officeDocument/2006/relationships/notesMaster" Target="/ppt/notesMasters/notesMaster1.xml" Id="Rc7ef053672d3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주제: 입찰공고문, 과업지시서, 제안요청서의 사업 요구를 RD, SRS, DCD로 구체화하고 개인 프로젝트 범위로 전환한 과정.</a:t>
            </a:r>
          </a:p>
          <a:p xmlns:a="http://schemas.openxmlformats.org/drawingml/2006/main">
            <a:r>
              <a:t>출처: files/foodtech의 입찰공고문·과업지시서·제안요청서 및 RD·SRS·DCD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RD는 고객 관점의 목적과 범위, SRS는 구현과 검증 조건, DCD는 수집 데이터와 표준화·품질 규칙을 담당한다.</a:t>
            </a:r>
          </a:p>
          <a:p xmlns:a="http://schemas.openxmlformats.org/drawingml/2006/main">
            <a:r>
              <a:t>출처: /home/davidots/문서/foodtech/AGENTS.md, files/foodtech의 RD·SRS·DCD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장비를 쓰지 않는 조건을 숨기지 않고, 호환성 주장을 제한하는 것이 전환 설계의 첫 원칙이다.</a:t>
            </a:r>
          </a:p>
          <a:p xmlns:a="http://schemas.openxmlformats.org/drawingml/2006/main">
            <a:r>
              <a:t>출처: /home/davidots/문서/foodtech/AGENTS.md 6.3~6.5, pending_decisions.md PEND-005·PEND-007·PEND-008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프로파일 ID의 X는 연계 방식, Y는 장비 유형, Z는 데이터 유형을 뜻한다. 각 계열에 세 표현 정책을 적용한다.</a:t>
            </a:r>
          </a:p>
          <a:p xmlns:a="http://schemas.openxmlformats.org/drawingml/2006/main">
            <a:r>
              <a:t>출처: /home/davidots/문서/foodtech/AGENTS.md 6.4, pending_decisions.md PEND-005·PEND-011, Foodtech_AI_Recipe_Agent_DCD_v0.2.xlsx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제조사 공개자료의 사실과 프로젝트의 Mock 설계를 같은 것으로 취급하지 않았다. 공개 계약이 있는 RATIONAL은 REST 사례로, OPC UA 30200은 공통 모델로 채택했다.</a:t>
            </a:r>
          </a:p>
          <a:p xmlns:a="http://schemas.openxmlformats.org/drawingml/2006/main">
            <a:r>
              <a:t>I-Robo 2는 기능 항목만 참조하며 제조사 호환을 주장하지 않는다. BOTINKIT과 UNOX는 데이터 항목 차이를 보완하는 비교 자료다.</a:t>
            </a:r>
          </a:p>
          <a:p xmlns:a="http://schemas.openxmlformats.org/drawingml/2006/main">
            <a:r>
              <a:t>출처: PEND-005_외부자료_조사보고서_v0.2.docx — 후보 비교, 후보별 조사 결과, 권고 연계 대상, Mock 프로파일; S02~S13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예시는 확정된 fixture 정책으로 만든 SYNTHETIC 발표용 데이터다. 실제 제조사 데이터나 호환 규격이 아니다.</a:t>
            </a:r>
          </a:p>
          <a:p xmlns:a="http://schemas.openxmlformats.org/drawingml/2006/main">
            <a:r>
              <a:t>세 파일은 같은 장비 ID, 같은 시각, 같은 180°C 상태를 서로 다른 표현 정책으로 보여준다. 속도 계열은 직접 환산하지 않는다.</a:t>
            </a:r>
          </a:p>
          <a:p xmlns:a="http://schemas.openxmlformats.org/drawingml/2006/main">
            <a:r>
              <a:t>출처: /home/davidots/문서/foodtech/pending_decisions.md PEND-005·PEND-011, AGENTS.md 6.4·6.8, Foodtech_AI_Recipe_Agent_DCD_v0.2.xlsx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연계는 조회·수집 전용이다. 플랫폼은 장비를 구동·정지하거나 설정값을 보내거나 프로그램을 배포하지 않는다.</a:t>
            </a:r>
          </a:p>
          <a:p xmlns:a="http://schemas.openxmlformats.org/drawingml/2006/main">
            <a:r>
              <a:t>출처: /home/davidots/문서/foodtech/AGENTS.md 3.7·6.3·6.5, Foodtech_AI_Recipe_Agent_SRS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제조사 중립 정보모델은 OPC UA 30200을 기본으로, DIN/TS 18898:2021-09를 보완 자료로 사용한다.</a:t>
            </a:r>
          </a:p>
          <a:p xmlns:a="http://schemas.openxmlformats.org/drawingml/2006/main">
            <a:r>
              <a:t>출처: PEND-005_외부자료_조사보고서_v0.2.docx, /home/davidots/문서/foodtech/AGENTS.md 6.3~6.5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출력은 애플리케이션에서 다시 검증하고, 운영자 승인 전에는 참고 초안이다. 자동 전송·자동 적용은 제외한다.</a:t>
            </a:r>
          </a:p>
          <a:p xmlns:a="http://schemas.openxmlformats.org/drawingml/2006/main">
            <a:r>
              <a:t>출처: /home/davidots/문서/foodtech/AGENTS.md 3.7, Foodtech_AI_Recipe_Agent_RD·SRS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규모는 63개 인스턴스, 5초 간격이다. 정상 13건/초, 지속 최대 26건/초, 순간 100건/초를 구분한다.</a:t>
            </a:r>
          </a:p>
          <a:p xmlns:a="http://schemas.openxmlformats.org/drawingml/2006/main">
            <a:r>
              <a:t>출처: /home/davidots/문서/foodtech/AGENTS.md 6.4~6.5, Foodtech_AI_Recipe_Agent_SRS·DCD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 Tier AI에는 공개자료, Mock, 합성 데이터만 보낸다. 백업은 별도 환경의 복원시험으로 확인한다.</a:t>
            </a:r>
          </a:p>
          <a:p xmlns:a="http://schemas.openxmlformats.org/drawingml/2006/main">
            <a:r>
              <a:t>출처: /home/davidots/문서/foodtech/AGENTS.md 6.2, Foodtech_AI_Recipe_Agent_SRS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RD는 요구사항 정의서, SRS는 요구사항 명세서, DCD는 데이터 수집 정의서다. 세 문서는 입찰 문서의 사업 요구를 목적·시스템 요구·데이터 계약으로 나누어 개인 프로젝트 기준을 만든다.</a:t>
            </a:r>
          </a:p>
          <a:p xmlns:a="http://schemas.openxmlformats.org/drawingml/2006/main">
            <a:r>
              <a:t>출처: /home/davidots/문서/foodtech/AGENTS.md 3.3~3.6, files/foodtech의 RD·SRS·DCD 최신본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02a5425b640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a4791821d64660" /><Relationship Type="http://schemas.openxmlformats.org/officeDocument/2006/relationships/slideLayout" Target="/ppt/slideLayouts/slideLayout1.xml" Id="Refe9878a5ba74f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9878a5ba74f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3a468a5f4be2" /><Relationship Type="http://schemas.openxmlformats.org/officeDocument/2006/relationships/notesSlide" Target="/ppt/notesSlides/notesSlide1.xml" Id="R51aaf1338f964b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8ec14b4834980" /><Relationship Type="http://schemas.openxmlformats.org/officeDocument/2006/relationships/notesSlide" Target="/ppt/notesSlides/notesSlide2.xml" Id="R7a86ff3ea312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6ec8acfe6421b" /><Relationship Type="http://schemas.openxmlformats.org/officeDocument/2006/relationships/notesSlide" Target="/ppt/notesSlides/notesSlide3.xml" Id="Rb13dd297de7246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5630fc0244534" /><Relationship Type="http://schemas.openxmlformats.org/officeDocument/2006/relationships/notesSlide" Target="/ppt/notesSlides/notesSlide4.xml" Id="Re7f36c0361a94b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ae2df38ef4525" /><Relationship Type="http://schemas.openxmlformats.org/officeDocument/2006/relationships/notesSlide" Target="/ppt/notesSlides/notesSlide5.xml" Id="R131e0abc3ecd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dcd51750c4bc7" /><Relationship Type="http://schemas.openxmlformats.org/officeDocument/2006/relationships/notesSlide" Target="/ppt/notesSlides/notesSlide6.xml" Id="R68c5b810db60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56f219cb1424e" /><Relationship Type="http://schemas.openxmlformats.org/officeDocument/2006/relationships/notesSlide" Target="/ppt/notesSlides/notesSlide7.xml" Id="Rf709c5d9e03e46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a8dee42e2470d" /><Relationship Type="http://schemas.openxmlformats.org/officeDocument/2006/relationships/notesSlide" Target="/ppt/notesSlides/notesSlide8.xml" Id="R655b1a501cf944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78a4da2bf4869" /><Relationship Type="http://schemas.openxmlformats.org/officeDocument/2006/relationships/notesSlide" Target="/ppt/notesSlides/notesSlide9.xml" Id="R1ca27da487e449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da02cf18b46a5" /><Relationship Type="http://schemas.openxmlformats.org/officeDocument/2006/relationships/notesSlide" Target="/ppt/notesSlides/notesSlide10.xml" Id="R861d1a0b707040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56940197e4fca" /><Relationship Type="http://schemas.openxmlformats.org/officeDocument/2006/relationships/notesSlide" Target="/ppt/notesSlides/notesSlide11.xml" Id="Re2d06cd256ee49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f9afb87e643b5" /><Relationship Type="http://schemas.openxmlformats.org/officeDocument/2006/relationships/notesSlide" Target="/ppt/notesSlides/notesSlide12.xml" Id="Rc9aea336d97344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AF6E-59AC-403B-B973-9E067BC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2089-62CC-48F3-A85A-DB12F45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20C18-5E84-4EB3-9694-E85AD59F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사업 요구를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개인 프로젝트로 전환한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893E5-EB2A-42C5-84F5-5458DEE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163814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5B4BC-6B5E-4042-BE98-16CB830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요구의 개인 프로젝트 전환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D6036-6A0E-4A4B-BE0E-715FF7A1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3062E-2FF6-483C-A63E-83061FF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28CCA-9730-4BFA-BCC7-4BEF128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입찰 문서의 요구를 분석 산출물에서 추적하고, 개인이 구현하고 검증할 조건으로 구체화했다.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67793-8BC8-4682-99A0-7FB5A608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기준자료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2227E-D19B-4653-A0C2-1AB5163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입찰공고문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과업지시서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제안요청서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868A-80CC-4963-BD14-BA7695C0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ABFE3-12AC-45F9-A5B6-CE2A54E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요구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D73B7-0DF7-44B0-8CD3-0B61B28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목적과 사용자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기능·비기능 범위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데이터·검증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CD4BF-A8C0-4E10-8135-652DFF6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4FBAE-6F12-489E-85BF-0CFA69F7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분석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FCE8D-F983-4F7D-9C7E-1FE89EB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RD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SRS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DCD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5809D-E223-46A6-B4F8-6FCA211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706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A3BBD-20D2-458B-A689-6586D112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공통 목적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89C96-AEE4-4751-93F2-780E3228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33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요구를 보존하면서 개인 프로젝트가 검증할 수 있는 범위와 책임으로 바꾼다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1D876-19A5-4FF1-BF16-5294BF2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985D0-A455-49C1-A753-88E4153B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2105680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20EE19-FAF4-4023-9D05-49EE4BD9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개인 프로젝트 전환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13F94-DDB6-4668-B402-3B707FE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F1C30-038B-4E3A-BAE1-439A1988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1A48-7DCC-482A-B6BD-F511F97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사업 요구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3DF58-0C8B-4287-842F-1D8A90A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38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개인 프로젝트의 재해석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0F523-A4A4-47F9-B915-DAB1B149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6EB54-3AB6-4EB2-993A-0397104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실제 제조사 장비 연계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60454-C986-4DB9-9006-FF70343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0500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AE7C5-7520-4473-B283-E1DEA24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38325"/>
            <a:ext cx="3962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공개자료 + 표준 모델 + 가상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97E42-D558-4858-80A2-A1514E2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11FBB-E262-4976-AD1E-7B28FE9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현장 환경의 지속 운영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96E2E-0FB9-4B7C-9371-58F13C9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축소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8F1B1-67E1-404A-A2CE-ACDB3128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9875"/>
            <a:ext cx="3962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로컬 개발 후 제한된 클라우드 데모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65E9-63DA-4034-8E49-C771A38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15252-D0C1-498E-9F76-581208A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활용과 조리 지원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138DD-7F39-4C8E-AB4A-63F5D33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4810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E0627-F164-4A3B-B6C1-29CEA8E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81425"/>
            <a:ext cx="3962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읽기 전용 수집과 의사결정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24606-02A7-4B6A-BC6D-3211E63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038E0-FC26-47FD-8D0F-5AFE5AC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현장 호환성·효과 입증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4970F-414D-48ED-AB40-C497A5CD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196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정직한 주장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0A942-6E29-42AF-97C0-B4045D5D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52975"/>
            <a:ext cx="3962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Mock 기반 반복 검증과 한계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60D75-6BBE-4E3E-84CF-D300A68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55E54-DF7E-4BE0-99B0-187D632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판단 원칙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D7CFD-AE5B-49B6-8696-B238850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721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검증하지 않은 제조사 규격이나 현장 효과는 사실처럼 표현하지 않는다.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402D9-4667-47EB-B259-A0DC52EA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2A516-5EFB-414E-9DC7-7C58387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407772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FDB32-B4FB-460B-A464-C65C44E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제조사 fixture 생성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352FF-6DC2-44A0-AFC5-6F919D21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14FC6-8CFC-4532-A477-BF30D10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C9F9E-F802-4A47-9A70-172F38F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실제 제조사를 복제하지 않고, 수집기가 처리해야 할 표현 차이를 규칙으로 조합했다.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2FB4F-A305-4E8E-8BD9-44001E3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581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C199B-F00D-4C70-A6D5-D866815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프로파일 계열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DE127-7E29-4392-90EE-72BCC5D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E83A3-8A5B-47EF-A5D9-787626EA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95450"/>
            <a:ext cx="1276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5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E63D5-4A86-4227-B19A-CEFF304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fixture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9C736-682D-4625-91AA-4E145184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4F4C6-A8AF-4AA7-98AF-B91C79B8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57350"/>
            <a:ext cx="531495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8097-C3FF-481E-AD25-F9C0073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최소 63개 인스턴스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B0D5E-22EB-46B0-AD05-1C8E6CA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rPr>
              <a:t>각 프로파일에 vendor-a · vendor-b · vendor-c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B67EA-07B0-4FCC-921B-DB9B8E0A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A1583-F3BF-4DA3-A6A0-792E2FC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프로파일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3FC01-C1F4-437F-8087-3ECA41F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X: REST·OPC UA·MQTT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Y: 기본·볶음·오븐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Z: JSON·XML·CSV·Binary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3FD74-6B3D-4537-BFF3-BE572E5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C75BF-7F89-4387-8E72-F6FF2FF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표현 정책 적용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2012C-782D-4334-B9C9-1CEABDF7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명명·구조·단위·시각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Boolean·상태·Null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확장 필드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EF9B0-3A2D-420F-A577-E0BD77A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D4707-2519-4CBA-A661-EC5BCAB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 가능한 인스턴스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2570E-2CD8-4049-A55E-1C080DAC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불변 ID와 재현 시드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출처 분류 기록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형식별 스키마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790DF-E7EA-4CA3-91B8-8CBD783E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예: mockprofile-100-a-001 = REST · 기본 장비 · JSON · vendor-a · 1번 인스턴스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4C13E-53F3-428B-A754-F0703C7C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11464-09F6-4F32-B663-AA82482C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206942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CF036-4324-4DF6-9494-0E8359E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제조사·표준 조사에서 프로파일 규칙을 도출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54028-3C98-4AB9-8DBF-6D5661CE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B2E38-B5D5-4B77-AC6D-4D3440E7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4A80D-053A-4423-8272-C78E0BB5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공개자료에서 확인한 기능과 프로젝트가 채택한 Mock 규칙을 구분했다.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42950" y="1695450"/>
          <a:ext xmlns:a="http://schemas.openxmlformats.org/drawingml/2006/main" cx="107061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95750"/>
                <a:gridCol w="4514850"/>
              </a:tblGrid>
              <a:tr h="5143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조사 대상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공개자료에서 확인한 특징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fixture·프로파일 반영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TechMagic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I-Robo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가열, 조리시간, 냄비·헤라의 회전 속도·방향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공개 API·SDK·스키마는 확인되지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볶음·교반 항목과 mock-stirfry-robot-v1의 기능 참조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제조사 호환성은 주장하지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RATIONAL iCombi Pro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ConnectedCooking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HACCP, 온도·시간·모드·도어 이벤트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장비·프로그램 REST API와 OAuth 2.0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mock-connectedcooking-rest-v1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Polling·토큰 만료·페이징·기간 조회를 재현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OPC UA 30200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상업용 주방장비의 제조사 중립 정보모델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온도·시간·상태 등의 읽기 전용 변수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mock-kitchen-opcua-v1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공통 모델과 Browse·Read·Subscription의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BOTINKIT OMNI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0B1F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UNOX CHEFTOP-X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양념·원료·클라우드 레시피 / 에너지·물·세제·습도·팬 속도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보조 비교 프로파일과 선택·확장 필드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14253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제조사별 데이터 차이를 시험</a:t>
                      </a:r>
                    </a:p>
                  </a:txBody>
                  <a:tcPr marL="91440" marR="91440" marT="45720" marB="4572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DC04B-1A1B-4791-8B51-0506F940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7061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2272A-8B9A-4717-9F4C-9855F87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확인된 기능은 ‘무엇을 표현하는가’를 정하고, 공개 규격이 없는 부분은 SYNTHETIC 규칙으로 분리했다.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895D-0D90-481F-94FD-3AF3B89C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E20B3-C99D-4210-A9D9-914F4DA4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1500900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E3A0A-ABF8-4FBB-844A-E3F5356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제조사 fixture 예시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6D928-4C3B-45D3-867A-128E747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BF0A7-8601-4D68-A2B1-23B665A2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4DAD9-F3EC-4D24-B9D3-88C3B66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같은 장비·시각·온도를 유지하고, 원천 파일의 명명·구조·단위·코드 표현만 다르게 만들었다.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EBB4F-2640-48D0-A551-B64C1CB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43000"/>
            <a:ext cx="2343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SYNTHETIC 발표용 예시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EDA24-3248-4BB7-93F2-A8673B07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vendor-a · mockprofile-100-a-001.json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49096-2520-4670-AD89-0191A27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62300" cy="2647950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txBody>
          <a:bodyPr xmlns:a="http://schemas.openxmlformats.org/drawingml/2006/main" wrap="square" lIns="152400" tIns="152400" rIns="133350" bIns="114300" anchor="t">
            <a:normAutofit fontScale="914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"schemaVersion":"1.0",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"deviceId":"oven-01",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"eventTime":"2026-09-27T10:15:30Z",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"measurements":{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 "temperatureCelsius":180,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 "speedRpm":120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"running":true,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"status":"running",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"errorReason":null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0B044-DC73-44BB-8644-5D75453A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camelCase · nested · °C · UTC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true/false · 문자열 상태 · null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A727C-B7E7-489C-80A8-6BF3F21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907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vendor-b · mockprofile-100-b-001.json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306FA-D78E-48F2-BCBE-D0EBFBD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24100"/>
            <a:ext cx="3162300" cy="2647950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txBody>
          <a:bodyPr xmlns:a="http://schemas.openxmlformats.org/drawingml/2006/main" wrap="square" lIns="15240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"schema_version":"v1.2",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"device_id":"oven-01",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"event_time_ms":1790504130000,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"temperature_f":356,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"speed_pct":60,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"running":1,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"status_code":1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D5E8D-C64F-4A68-A0DC-C4DAAA08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054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snake_case · flat · °F · Unix ms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0/1 · 정수 상태 · Null 필드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4FE85-0B85-41CE-A5EC-2E7C02E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vendor-c · mockprofile-100-c-001.json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FE327-D18F-4365-916C-5ADB003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3162300" cy="2647950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txBody>
          <a:bodyPr xmlns:a="http://schemas.openxmlformats.org/drawingml/2006/main" wrap="square" lIns="15240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"SchVer":"3.0",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"DevID":"oven-01",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"EvtTime":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 "2026-09-27T19:15:30+09:00",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"Measure":{"Temp":180,"Spd":6},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"Run":"Y",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"St":"RUN",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 "ErrRsn":""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C7944-378C-4491-A260-FC60900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054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PascalCase·약어 · mixed · offset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Y/N · 축약 상태 · 빈 문자열 Null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D1D24-0C02-4C28-B15C-D61E20A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표준화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671CE-C1DF-45B6-89D6-CE20F74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온도·시각·상태는 공통 값으로 변환하고, rpm·%·level은 서로 다른 측정 의미로 분리한다.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85FD1-6E1D-440B-A34A-F980F73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1AF95-268A-47C2-AF99-FD5AF70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568881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19334-D81E-4452-8F28-7FB2028B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장비 연계는 읽기 전용으로 경계를 확정했다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AA012-7EA1-4332-9CF3-B6F2BFD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D537D-8421-4FE3-92B5-FFE8929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B6D4B-0375-4528-AAB0-18D0DBA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현장 안전과 검증 책임을 고려해, 데이터 수집과 장비 제어를 명확히 분리했다.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64F8D-ED03-4A67-B04C-C1B6EF4D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9339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6083F-801E-4006-B85E-61EBBF8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포함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8560D-A097-4B26-8351-68A1819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데이터를 읽고 해석한다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A0E2D-1216-41A2-A1C4-FF644A8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9DBC2-E0A6-4145-A03E-ECED7A5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REST Polling · MQTT · OPC UA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3994E-3F38-4FE0-80CB-62EDB16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4A613-9B53-472F-A64A-23A351F9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CSV · JSON · JSON Lines 파일 업로드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184B2-EE51-4D56-B3A0-8B871D22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E5953-CF8B-4BB8-94A6-F39B1A4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운영자 입력과 Mock 이벤트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EBD37-8D56-4D52-A82B-AE247D1E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B6DF5-35AA-4801-9DC9-6CA3853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표준화 · 품질 판정 · 재처리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2AA00-FFFD-4836-8725-C4C3D0F4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55054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AD2E7-AAB1-4B97-AC19-F6ED66FB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19050" rIns="95250" bIns="19050" anchor="ctr">
            <a:normAutofit fontScale="98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D5AB3-8CA3-4054-AC0D-D743A9DD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장비를 직접 움직이지 않는다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29047-3121-4B17-9EE4-8C571FA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5B4F7-8362-4833-A419-7082E4C6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시작·정지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B3D60-53F1-476B-ABD3-CF63DF1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623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EA27C-C38E-4472-9B0A-0A43399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설정값 쓰기와 원격 적용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80309-C782-4EDC-87AB-7EF0B33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386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0EA59-A911-4790-9666-E7E3E2C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프로그램 배포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3D7D0-53DC-45EE-B624-6C1A823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14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1A9E6-6D8A-45D9-8B41-F13604BE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OPC UA Method 호출과 원격 제어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FA077-E477-4E55-B2E5-44C2E15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기능 축소가 아니라 책임 경계의 명시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5D366-2F3E-4A4A-9FD5-696B4AE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76218-029A-4641-AB39-7CE3940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835620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F6C84-DE4F-4AD4-95C8-2B55F13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제조사 호환 구현 대신 ‘공통 모델 + 어댑터’를 검증한다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A481E-02C1-4C6C-A5D1-38CDA242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87673-0EB6-42AB-A7A0-CF3EBCC0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1A252-BBA9-43D5-AF82-047952C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공개되지 않은 실제 규격을 추정하지 않고, 차이를 흡수하는 구조 자체를 시험한다.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07419-715B-48A9-950C-BF4EC23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99822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5F79C-CF04-487E-A156-4CB68AB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원천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0EAB0-4972-48CB-9E36-59EB666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camelCase · snake_case · 약어 · °C/°F · 코드값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F42CD-5001-40ED-9841-5EF8712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050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A3416-A249-4C8A-A252-DD6B662F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99822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8DCBB-B5A4-4FA5-8457-47E0E5D4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제조사별 어댑터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80347-5783-469F-ADA8-4E7B18E4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필드명 · 단위 · 상태 코드 · 구조 차이 변환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55E60-2CF5-494A-B9F7-B453D52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7662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CCA57-1A61-447A-8847-B39756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99822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77477-3146-44A8-A365-20D6F629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공통 표준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35C0B-24E5-4953-B720-88D5C436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67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OPC UA 30200 중심 · DIN/TS 18898 보완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FDFAB-4861-4DF9-B221-6BA11D8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481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EF4BF-3CC4-4494-8AAE-4CBE474C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9822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B443B-E596-4E87-8379-31760705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표준 데이터 + 원문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7C398-3B1A-4E2C-9D72-40D9F35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387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분석용 공통 필드와 원천 payload를 함께 보존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F38A0-C9BD-48BB-AD18-3ECFF5C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검증 대상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B5FFF-44CF-4FDD-84F8-D993CCF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870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‘이 장비와 호환된다’가 아니라 ‘서로 다른 입력을 일관되게 수용한다’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8C4BD-9D4D-4742-9543-536DAEF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697BC-8291-4E25-BDFC-0F845A3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495413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5123A-8A14-480D-B0EC-87B901D0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AI의 역할을 ‘검토 가능한 초안’으로 제한했다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01E37-4FDC-4994-83C3-FBD41DBC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6A8A-BE19-45B7-A00C-F4297B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D181E-4BCC-41F4-92EC-A2B83F2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권장 결과를 구조화하고 검증한 뒤, 사람이 승인해야 현장에서 활용할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5EF58-C406-4E21-9DDD-76DF6F59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343150" cy="2705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E63A1-ABEB-441C-9854-13BF813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F208-3E6C-48F6-958A-C81ABD44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30745-2171-4B03-BAA0-BF6D9A7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40D44-F325-42FF-8849-2375DE5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구조화된 레시피·조리조건 초안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BE4CE-29FE-4D23-A093-4D6238C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1E7F3-D0DE-4476-AE67-E65634C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343150" cy="2705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17A87-D6EF-4C3B-8623-C96327AE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48209-4F4C-4592-BD28-1DA2584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94F3A-5619-4B6C-850E-66631EC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CC1BA-1EC6-4A9C-BF88-86784098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필수값·범위·장비 지원 기능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92498-09A4-4E12-A8A1-D8DC763D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B3323-125E-48B5-B507-E115C48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43150" cy="2705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1DE89-221B-4F4B-9E49-5DE1A00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C261-C798-4898-948D-01021936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2F900-920B-4153-8B82-2138275E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사람의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DC971-4066-4D67-B7C5-ACA9F9C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수정·승인·반려와 사유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BF297-0F48-471E-9400-3742515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E6ECF2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0C509-49E8-4391-8222-B07B96C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81200"/>
            <a:ext cx="2343150" cy="2705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237C7-B58B-4567-A315-BDDB9D7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92486-F0CD-41F4-9AB3-E2698D3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D9409-7FE3-44D5-82B7-78F3F43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현장 활용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79AAB-D892-4779-B4FB-55B5A6C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승인된 권장값을 참고해 운영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1E9CE-0288-47FA-9849-1B7D26A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6680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4E705-8ACE-4069-AF80-46071DEC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자동 적용 금지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938D5B-260A-40D6-A6AC-EF89DBEA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76850"/>
            <a:ext cx="769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생성 결과를 장비에 자동 전송하거나 설정값으로 쓰지 않는다.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E4F13-3DE8-4DC3-8271-9D9A8A5C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820D5-2FA1-46CB-8437-4BD1B44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1262544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5BE8E-ECD5-4D94-B902-944BF99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현장실증은 ‘반복 가능한 전체 흐름 검증’으로 바꿨다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D958-889D-498E-81CA-74F067A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F92A6-5679-417A-82A2-9E6DF21C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80922-9F05-42EF-895D-714D035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Mock과 대체 입력으로 수집부터 평가까지 실행하되, 실제 현장 호환성으로 과장하지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CB35F-EEBF-427D-9D0F-BDAE62F9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검증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26DF6-A286-4D85-BA78-88038D8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668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수집  →  표준화  →  AI 추천  →  사람의 검토  →  결과 수집·평가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5B9F4-9AAE-4062-A979-AFA4DC9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부하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79A91-053E-4621-A5D1-3395BDF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정상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BEC2E-6C9B-44A5-9DC2-73FD5701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62375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3349F-3E08-451C-88E4-E36FBBD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13건/초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73F6B-4CA4-4F9D-9FF9-B7F3ADB6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지속 최대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66C80-5124-48A3-BD7A-47F20E48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10075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A1CEF-B227-44DD-BF7A-5D0ADCC4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26건/초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C48DA-5AE8-48DF-9112-F3852EFF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순간 버스트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6F9B-6A2C-46E5-AB68-5F918D3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57775"/>
            <a:ext cx="7429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67890-0D3C-4EB9-98AB-0917FAF2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72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100건/초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461FF-E156-409C-9F0A-301CEA8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오류 시나리오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F8DFB-7BAA-4F8A-BB44-111F3DD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단절 · 재연결 · 중복 · 인증 실패 · 인코딩 오류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641A7-B3D1-470D-BF70-C9CFF30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B3B14-5D80-4972-839C-FD7B831B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2147059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AD953-9FA8-4CDC-AE88-FA499725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데이터와 운영 기준을 개인 규모로 재설계했다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174ED-B0C9-4A5B-97FD-5AC37DA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AE6F8-2645-49D4-AF1B-43EEE115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A7240-C723-4F42-8F54-B49EB7A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비용 제약을 인정하되, 민감정보와 복구 가능성에서는 기준을 낮추지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93CE4-A26B-438F-B2BA-1A4D199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92E45-373B-420B-A816-9581DEDB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외부 AI 전송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2812F-B46F-4F9A-BF59-CDAF876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1562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Free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58872-72F1-4AE9-BFEE-30573EEA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586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공개자료 · Mock · 합성 데이터만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8746E-93D7-482F-BCD2-DC6353F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24125"/>
            <a:ext cx="765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운영 데이터는 최소화·비식별화 후에도 Paid Tier만 허용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97394-5B6D-40E3-8320-CA350F0D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061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A3EA4-4CF6-42E9-8DAD-E09D564A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환경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05F8-C849-40A2-B8E6-1D1461D9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로컬 개발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C1857-C517-4540-B908-7D36E19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7D479-4AEA-4650-814E-EA7140F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3162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클라우드 시험·공개 데모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38B8-EE6F-4F86-8974-9B41159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290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로컬 성공 후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01409-4B0B-4FE0-9458-2A4978D9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2EC5E-B089-4E55-BCE3-7B8124EE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복구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09E44-1D1A-4C8B-88F6-EB5D10C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21526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백업 파일 존재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D7C37-9730-4F79-A2CB-8E76936E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244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83044-7ADF-4590-B5DB-0A2DFFC7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67250"/>
            <a:ext cx="2457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별도 환경 복원시험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29D74-68AF-44B0-A2C2-8A26CCF6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529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= 실제 복구 가능성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35849-A24D-44F2-8954-932A14B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14774-3CFC-4A7C-BD01-60675203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311691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4B1C5-60FF-4A54-94DF-EA3A7FB3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 전환 산출물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ABDAC-D038-4C16-B84D-9F57F6D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23039-5793-4334-9413-D5BBCBCC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6633E-3566-42F6-8244-6C20B9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세 산출물은 같은 사업 요구를 서로 다른 수준에서 개인 프로젝트 기준으로 구체화한다.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7ED06-E662-49DD-B567-53D4242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428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83AD1-2F7C-49A9-B094-4E4AD844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050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요구사항 정의서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16F4-1D97-43F3-A5FB-E172382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목적과 범위: 사용자·핵심 업무·제약·제외 범위를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CD591-612F-4D02-859B-F2B9325B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5B28A-C2FD-49D1-B7B5-012FA05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428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9FBB0-7525-48EC-B06B-CE62C5EE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861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요구사항 명세서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5B6A6-15DB-4B5B-9424-2DEF087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구현과 검증 조건: 입력·처리·출력·예외·권한·수용기준을 명세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400C2-124F-4DAF-BBFD-7E11183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957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448EA-0DD1-4C0F-9110-44FBBE69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428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3C1BD-E88A-4F6A-8B54-86E3D20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데이터 수집 정의서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1EF40-E228-4213-9BEF-895871C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데이터 계약: 소스·필드·단위·매핑·품질·Mock 정책을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66C15-A004-4ACA-868E-47800BE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C5720-F7E4-4ED0-961B-CABB494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24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개인 프로젝트 전환</a:t>
            </a:r>
          </a:p>
        </p:txBody>
      </p:sp>
    </p:spTree>
    <p:extLst>
      <p:ext uri="{BB962C8B-B14F-4D97-AF65-F5344CB8AC3E}">
        <p14:creationId xmlns:p14="http://schemas.microsoft.com/office/powerpoint/2010/main" val="114631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2026-09-27T15:04:49.2370000Z</dcterms:created>
  <dcterms:modified xsi:type="dcterms:W3CDTF">2026-09-27T15:04:49.2370000Z</dcterms:modified>
</coreProperties>
</file>